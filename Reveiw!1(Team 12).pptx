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6" r:id="rId2"/>
    <p:sldId id="269" r:id="rId3"/>
    <p:sldId id="257" r:id="rId4"/>
    <p:sldId id="258" r:id="rId5"/>
    <p:sldId id="259" r:id="rId6"/>
    <p:sldId id="265" r:id="rId7"/>
    <p:sldId id="268" r:id="rId8"/>
    <p:sldId id="260" r:id="rId9"/>
    <p:sldId id="270" r:id="rId10"/>
    <p:sldId id="261" r:id="rId11"/>
    <p:sldId id="262" r:id="rId12"/>
    <p:sldId id="263" r:id="rId13"/>
    <p:sldId id="264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7" autoAdjust="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4212BB-A3FD-40BC-977E-BA63D678E562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D2C6D7-9A1C-42B0-BBAF-7443B4415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802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D2C6D7-9A1C-42B0-BBAF-7443B4415DD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211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andfonline.com/doi/full/10.1080/08839514.2025.2487417?utm_source=chatgpt.com" TargetMode="Externa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iencedirect.com/science/article/pii/S2666720724000924?utm_source=chatgpt.com" TargetMode="External"/><Relationship Id="rId5" Type="http://schemas.openxmlformats.org/officeDocument/2006/relationships/hyperlink" Target="https://www.mdpi.com/0718-1876/20/1/28?utm_source=chatgpt.com" TargetMode="External"/><Relationship Id="rId4" Type="http://schemas.openxmlformats.org/officeDocument/2006/relationships/hyperlink" Target="https://link.springer.com/article/10.1007/s41060-025-01019-z?utm_source=chatgpt.com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kaggle.com/datasets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42C10C2-195D-252E-C4E4-4E2F29128C5F}"/>
              </a:ext>
            </a:extLst>
          </p:cNvPr>
          <p:cNvSpPr txBox="1"/>
          <p:nvPr/>
        </p:nvSpPr>
        <p:spPr>
          <a:xfrm>
            <a:off x="2428613" y="154845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Big Data </a:t>
            </a:r>
            <a:r>
              <a:rPr lang="en-IN" sz="1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</a:t>
            </a:r>
            <a:br>
              <a:rPr lang="da-DK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a-DK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– 1</a:t>
            </a:r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Smart Customer Purchase Analytics &amp;</a:t>
            </a:r>
          </a:p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Recommendation System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6D2B93-3360-D9F9-9DC4-EF230C8E8B4E}"/>
              </a:ext>
            </a:extLst>
          </p:cNvPr>
          <p:cNvSpPr txBox="1"/>
          <p:nvPr/>
        </p:nvSpPr>
        <p:spPr>
          <a:xfrm>
            <a:off x="2093053" y="1968651"/>
            <a:ext cx="457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IN" sz="1800" b="1" dirty="0"/>
              <a:t>Team No-</a:t>
            </a:r>
          </a:p>
          <a:p>
            <a:pPr marL="0" indent="0" algn="ctr">
              <a:buNone/>
            </a:pPr>
            <a:r>
              <a:rPr lang="en-IN" sz="1800" b="1" dirty="0"/>
              <a:t>Roll No		Name</a:t>
            </a:r>
          </a:p>
          <a:p>
            <a:pPr marL="0" indent="0" algn="ctr">
              <a:buNone/>
            </a:pPr>
            <a:r>
              <a:rPr lang="en-IN" sz="1800" b="1" dirty="0"/>
              <a:t>2320030002-Rahul Shakari</a:t>
            </a:r>
          </a:p>
          <a:p>
            <a:pPr marL="0" indent="0" algn="ctr">
              <a:buNone/>
            </a:pPr>
            <a:r>
              <a:rPr lang="en-US" sz="1800" b="1" dirty="0"/>
              <a:t>2320030284-Nagireddy Venkata Sumanth Reddy</a:t>
            </a:r>
          </a:p>
          <a:p>
            <a:pPr marL="0" indent="0" algn="ctr">
              <a:buNone/>
            </a:pPr>
            <a:r>
              <a:rPr lang="en-US" b="1" dirty="0"/>
              <a:t>2320030020-Potluri Manikanta Krishna Prasad</a:t>
            </a:r>
            <a:endParaRPr lang="en-US" sz="18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3FA20C-D2FF-CBC3-9B40-1096FB653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1973912-79C0-6A80-FE2B-EB9868943079}"/>
              </a:ext>
            </a:extLst>
          </p:cNvPr>
          <p:cNvSpPr txBox="1"/>
          <p:nvPr/>
        </p:nvSpPr>
        <p:spPr>
          <a:xfrm>
            <a:off x="1650533" y="4043115"/>
            <a:ext cx="5842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050"/>
                </a:solidFill>
              </a:rPr>
              <a:t>Department of Computer Science and Engineering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9C2FA1-57AA-9610-FFB0-1C36AA05F5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094" y="4482165"/>
            <a:ext cx="2175809" cy="10326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0629593-1F81-B964-B764-6D49A8B6765B}"/>
              </a:ext>
            </a:extLst>
          </p:cNvPr>
          <p:cNvSpPr txBox="1"/>
          <p:nvPr/>
        </p:nvSpPr>
        <p:spPr>
          <a:xfrm>
            <a:off x="2428613" y="5609748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</p:txBody>
      </p:sp>
    </p:spTree>
    <p:extLst>
      <p:ext uri="{BB962C8B-B14F-4D97-AF65-F5344CB8AC3E}">
        <p14:creationId xmlns:p14="http://schemas.microsoft.com/office/powerpoint/2010/main" val="1808907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CEECDE-D997-B56C-C061-26D8DA85D6E2}"/>
              </a:ext>
            </a:extLst>
          </p:cNvPr>
          <p:cNvSpPr txBox="1"/>
          <p:nvPr/>
        </p:nvSpPr>
        <p:spPr>
          <a:xfrm>
            <a:off x="67111" y="478172"/>
            <a:ext cx="9009777" cy="6230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7325" marR="194310" indent="518160">
              <a:lnSpc>
                <a:spcPct val="107000"/>
              </a:lnSpc>
              <a:spcBef>
                <a:spcPts val="900"/>
              </a:spcBef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                    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Abstract</a:t>
            </a:r>
          </a:p>
          <a:p>
            <a:pPr marL="187325" marR="194310" indent="518160">
              <a:lnSpc>
                <a:spcPct val="107000"/>
              </a:lnSpc>
              <a:spcBef>
                <a:spcPts val="900"/>
              </a:spcBef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Smart Customer</a:t>
            </a:r>
            <a:r>
              <a:rPr lang="en-US" sz="1800" b="1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Purchase</a:t>
            </a:r>
            <a:r>
              <a:rPr lang="en-US" sz="1800" b="1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Analytics &amp; Recommendation System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 a data analytics project that focuses on understanding customer purchase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behaviour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using big data analytics techniques. In today’s digital retail environment, organizations generate very large amounts of transaction data. This data contains useful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information</a:t>
            </a:r>
            <a:r>
              <a:rPr lang="en-US" sz="18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about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customer</a:t>
            </a:r>
            <a:r>
              <a:rPr lang="en-US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preferences,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buying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patterns,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product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performance.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However,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without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proper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analysis,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</a:t>
            </a:r>
            <a:r>
              <a:rPr lang="en-US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cannot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effectively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used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 business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decision-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making.</a:t>
            </a:r>
            <a:endParaRPr lang="en-IN" spc="-1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7325" marR="194310" indent="518160">
              <a:lnSpc>
                <a:spcPct val="107000"/>
              </a:lnSpc>
              <a:spcBef>
                <a:spcPts val="900"/>
              </a:spcBef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</a:t>
            </a:r>
            <a:r>
              <a:rPr lang="en-US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project uses</a:t>
            </a:r>
            <a:r>
              <a:rPr lang="en-US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historical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customer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purchase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perform</a:t>
            </a:r>
            <a:r>
              <a:rPr lang="en-US" sz="18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cleaning, data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integration, and exploratory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analysis. Different analytical techniques are applied to study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sales trends, customer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69545" marR="175260">
              <a:lnSpc>
                <a:spcPct val="107000"/>
              </a:lnSpc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segmentation,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product-wise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performance,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purchasing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frequency.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visualization</a:t>
            </a:r>
            <a:r>
              <a:rPr lang="en-US" sz="18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tools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are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also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used</a:t>
            </a:r>
            <a:r>
              <a:rPr lang="en-US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present the results clearly through graphs and charts such as sales trends, category-wise revenue, and customer spending patterns.</a:t>
            </a:r>
          </a:p>
          <a:p>
            <a:pPr marL="169545" marR="175260">
              <a:lnSpc>
                <a:spcPct val="107000"/>
              </a:lnSpc>
              <a:buNone/>
            </a:pPr>
            <a:endParaRPr lang="en-IN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69545" marR="175260">
              <a:lnSpc>
                <a:spcPct val="107000"/>
              </a:lnSpc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addition,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simple</a:t>
            </a:r>
            <a:r>
              <a:rPr lang="en-US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rule-based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recommendation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method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implemented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suggest products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based on customer’s</a:t>
            </a:r>
            <a:r>
              <a:rPr lang="en-US" sz="1800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past purchases and frequently bought items. The system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helps in identifying high-value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customers, popular products, and possible cross-selling opportunities. Overall, this project shows how big data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analytics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visualization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support data-driven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business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decisions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act as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basic foundation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intelligent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recommendation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systems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real-world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retail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applications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25D91A-CEF0-AC52-FADC-4DC724F23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889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Background: Growth of digital retail &amp; big data</a:t>
            </a:r>
          </a:p>
          <a:p>
            <a:pPr lvl="1"/>
            <a:r>
              <a:rPr sz="2400" dirty="0"/>
              <a:t>• Large volumes of transaction data generated daily</a:t>
            </a:r>
          </a:p>
          <a:p>
            <a:pPr lvl="1"/>
            <a:r>
              <a:rPr sz="2400" dirty="0"/>
              <a:t>• Businesses need analytics for better decisions</a:t>
            </a:r>
          </a:p>
          <a:p>
            <a:pPr lvl="1"/>
            <a:r>
              <a:rPr sz="2400" dirty="0"/>
              <a:t>• Problem: Raw data is not useful without analysis</a:t>
            </a:r>
          </a:p>
          <a:p>
            <a:pPr lvl="1"/>
            <a:r>
              <a:rPr sz="2400" dirty="0"/>
              <a:t>• Application: Retail analytics &amp; intelligent recommendations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3BA116-E436-E6E7-CF2B-CC9646A64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Analyze customer purchase behavior using historical data</a:t>
            </a:r>
          </a:p>
          <a:p>
            <a:pPr lvl="1"/>
            <a:r>
              <a:rPr sz="2400" dirty="0"/>
              <a:t>• Identify sales trends &amp; product performance</a:t>
            </a:r>
          </a:p>
          <a:p>
            <a:pPr lvl="1"/>
            <a:r>
              <a:rPr sz="2400" dirty="0"/>
              <a:t>• Perform customer segmentation</a:t>
            </a:r>
          </a:p>
          <a:p>
            <a:pPr lvl="1"/>
            <a:r>
              <a:rPr sz="2400" dirty="0"/>
              <a:t>• Develop a basic rule-based recommendation system</a:t>
            </a:r>
          </a:p>
          <a:p>
            <a:pPr lvl="1"/>
            <a:r>
              <a:rPr sz="2400" dirty="0"/>
              <a:t>• Visualize insights using dashboards &amp; charts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D78EE1-536E-C07B-517E-493C28197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7597"/>
            <a:ext cx="8229600" cy="1143000"/>
          </a:xfrm>
        </p:spPr>
        <p:txBody>
          <a:bodyPr/>
          <a:lstStyle/>
          <a:p>
            <a:r>
              <a:rPr dirty="0"/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Paper 1: Market Basket Analysis using </a:t>
            </a:r>
            <a:r>
              <a:rPr sz="2400" dirty="0" err="1"/>
              <a:t>Apriori</a:t>
            </a:r>
            <a:r>
              <a:rPr sz="2400" dirty="0"/>
              <a:t> Algorithm</a:t>
            </a:r>
          </a:p>
          <a:p>
            <a:pPr lvl="1"/>
            <a:r>
              <a:rPr sz="2400" dirty="0"/>
              <a:t>  - Focus on association rule mining for product bundling</a:t>
            </a:r>
          </a:p>
          <a:p>
            <a:pPr lvl="1"/>
            <a:r>
              <a:rPr sz="2400" dirty="0"/>
              <a:t>• Paper 2: Customer Segmentation using K-Means Clustering</a:t>
            </a:r>
          </a:p>
          <a:p>
            <a:pPr lvl="1"/>
            <a:r>
              <a:rPr sz="2400" dirty="0"/>
              <a:t>  - Grouping customers based on purchase behavior</a:t>
            </a:r>
          </a:p>
          <a:p>
            <a:pPr lvl="1"/>
            <a:r>
              <a:rPr sz="2400" dirty="0"/>
              <a:t>• Research Gap: Many systems lack simple, interpretable models</a:t>
            </a:r>
          </a:p>
          <a:p>
            <a:pPr lvl="1"/>
            <a:r>
              <a:rPr sz="2400" dirty="0"/>
              <a:t>• Need: Integrated analytics + basic recommendation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28B022-42C3-0D1D-2E96-0A173A317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DD0DBC5-CFCF-8D5A-713F-7659EBC0B0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2828376"/>
              </p:ext>
            </p:extLst>
          </p:nvPr>
        </p:nvGraphicFramePr>
        <p:xfrm>
          <a:off x="159390" y="1166017"/>
          <a:ext cx="8732940" cy="5092169"/>
        </p:xfrm>
        <a:graphic>
          <a:graphicData uri="http://schemas.openxmlformats.org/drawingml/2006/table">
            <a:tbl>
              <a:tblPr/>
              <a:tblGrid>
                <a:gridCol w="727745">
                  <a:extLst>
                    <a:ext uri="{9D8B030D-6E8A-4147-A177-3AD203B41FA5}">
                      <a16:colId xmlns:a16="http://schemas.microsoft.com/office/drawing/2014/main" val="3044267776"/>
                    </a:ext>
                  </a:extLst>
                </a:gridCol>
                <a:gridCol w="727745">
                  <a:extLst>
                    <a:ext uri="{9D8B030D-6E8A-4147-A177-3AD203B41FA5}">
                      <a16:colId xmlns:a16="http://schemas.microsoft.com/office/drawing/2014/main" val="4149976862"/>
                    </a:ext>
                  </a:extLst>
                </a:gridCol>
                <a:gridCol w="727745">
                  <a:extLst>
                    <a:ext uri="{9D8B030D-6E8A-4147-A177-3AD203B41FA5}">
                      <a16:colId xmlns:a16="http://schemas.microsoft.com/office/drawing/2014/main" val="667496049"/>
                    </a:ext>
                  </a:extLst>
                </a:gridCol>
                <a:gridCol w="727745">
                  <a:extLst>
                    <a:ext uri="{9D8B030D-6E8A-4147-A177-3AD203B41FA5}">
                      <a16:colId xmlns:a16="http://schemas.microsoft.com/office/drawing/2014/main" val="358201269"/>
                    </a:ext>
                  </a:extLst>
                </a:gridCol>
                <a:gridCol w="727745">
                  <a:extLst>
                    <a:ext uri="{9D8B030D-6E8A-4147-A177-3AD203B41FA5}">
                      <a16:colId xmlns:a16="http://schemas.microsoft.com/office/drawing/2014/main" val="1390150440"/>
                    </a:ext>
                  </a:extLst>
                </a:gridCol>
                <a:gridCol w="727745">
                  <a:extLst>
                    <a:ext uri="{9D8B030D-6E8A-4147-A177-3AD203B41FA5}">
                      <a16:colId xmlns:a16="http://schemas.microsoft.com/office/drawing/2014/main" val="3181232675"/>
                    </a:ext>
                  </a:extLst>
                </a:gridCol>
                <a:gridCol w="727745">
                  <a:extLst>
                    <a:ext uri="{9D8B030D-6E8A-4147-A177-3AD203B41FA5}">
                      <a16:colId xmlns:a16="http://schemas.microsoft.com/office/drawing/2014/main" val="1316439884"/>
                    </a:ext>
                  </a:extLst>
                </a:gridCol>
                <a:gridCol w="727745">
                  <a:extLst>
                    <a:ext uri="{9D8B030D-6E8A-4147-A177-3AD203B41FA5}">
                      <a16:colId xmlns:a16="http://schemas.microsoft.com/office/drawing/2014/main" val="953280158"/>
                    </a:ext>
                  </a:extLst>
                </a:gridCol>
                <a:gridCol w="727745">
                  <a:extLst>
                    <a:ext uri="{9D8B030D-6E8A-4147-A177-3AD203B41FA5}">
                      <a16:colId xmlns:a16="http://schemas.microsoft.com/office/drawing/2014/main" val="148465442"/>
                    </a:ext>
                  </a:extLst>
                </a:gridCol>
                <a:gridCol w="727745">
                  <a:extLst>
                    <a:ext uri="{9D8B030D-6E8A-4147-A177-3AD203B41FA5}">
                      <a16:colId xmlns:a16="http://schemas.microsoft.com/office/drawing/2014/main" val="3655174866"/>
                    </a:ext>
                  </a:extLst>
                </a:gridCol>
                <a:gridCol w="727745">
                  <a:extLst>
                    <a:ext uri="{9D8B030D-6E8A-4147-A177-3AD203B41FA5}">
                      <a16:colId xmlns:a16="http://schemas.microsoft.com/office/drawing/2014/main" val="427413680"/>
                    </a:ext>
                  </a:extLst>
                </a:gridCol>
                <a:gridCol w="727745">
                  <a:extLst>
                    <a:ext uri="{9D8B030D-6E8A-4147-A177-3AD203B41FA5}">
                      <a16:colId xmlns:a16="http://schemas.microsoft.com/office/drawing/2014/main" val="800489088"/>
                    </a:ext>
                  </a:extLst>
                </a:gridCol>
              </a:tblGrid>
              <a:tr h="678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 err="1"/>
                        <a:t>Sl</a:t>
                      </a:r>
                      <a:r>
                        <a:rPr lang="en-IN" sz="1000" dirty="0"/>
                        <a:t> No</a:t>
                      </a:r>
                    </a:p>
                  </a:txBody>
                  <a:tcPr marL="27430" marR="27430" marT="13715" marB="13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Year (2020 onwards)</a:t>
                      </a:r>
                    </a:p>
                  </a:txBody>
                  <a:tcPr marL="27430" marR="27430" marT="13715" marB="13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Authors</a:t>
                      </a:r>
                    </a:p>
                  </a:txBody>
                  <a:tcPr marL="27430" marR="27430" marT="13715" marB="13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Title of the Paper</a:t>
                      </a:r>
                    </a:p>
                  </a:txBody>
                  <a:tcPr marL="27430" marR="27430" marT="13715" marB="13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Source (Journal / Conference)</a:t>
                      </a:r>
                    </a:p>
                  </a:txBody>
                  <a:tcPr marL="27430" marR="27430" marT="13715" marB="13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Objective of the Paper</a:t>
                      </a:r>
                    </a:p>
                  </a:txBody>
                  <a:tcPr marL="27430" marR="27430" marT="13715" marB="13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Techniques Used</a:t>
                      </a:r>
                    </a:p>
                  </a:txBody>
                  <a:tcPr marL="27430" marR="27430" marT="13715" marB="13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Dataset Used</a:t>
                      </a:r>
                    </a:p>
                  </a:txBody>
                  <a:tcPr marL="27430" marR="27430" marT="13715" marB="13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Parameters Analysed</a:t>
                      </a:r>
                    </a:p>
                  </a:txBody>
                  <a:tcPr marL="27430" marR="27430" marT="13715" marB="13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Research Inference</a:t>
                      </a:r>
                    </a:p>
                  </a:txBody>
                  <a:tcPr marL="27430" marR="27430" marT="13715" marB="13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Research Gap</a:t>
                      </a:r>
                    </a:p>
                  </a:txBody>
                  <a:tcPr marL="27430" marR="27430" marT="13715" marB="13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DOI of the Paper</a:t>
                      </a:r>
                    </a:p>
                  </a:txBody>
                  <a:tcPr marL="27430" marR="27430" marT="13715" marB="13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4819615"/>
                  </a:ext>
                </a:extLst>
              </a:tr>
              <a:tr h="23454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1</a:t>
                      </a:r>
                    </a:p>
                  </a:txBody>
                  <a:tcPr marL="27430" marR="27430" marT="13715" marB="13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2021</a:t>
                      </a:r>
                    </a:p>
                  </a:txBody>
                  <a:tcPr marL="27430" marR="27430" marT="13715" marB="13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J. Han, M. Kamber, J. Pei</a:t>
                      </a:r>
                    </a:p>
                  </a:txBody>
                  <a:tcPr marL="27430" marR="27430" marT="13715" marB="13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Market Basket Analysis using Apriori Algorithm for Retail Data</a:t>
                      </a:r>
                    </a:p>
                  </a:txBody>
                  <a:tcPr marL="27430" marR="27430" marT="13715" marB="13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International Journal of Data Mining &amp; Knowledge Management</a:t>
                      </a:r>
                    </a:p>
                  </a:txBody>
                  <a:tcPr marL="27430" marR="27430" marT="13715" marB="13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To discover frequent </a:t>
                      </a:r>
                      <a:r>
                        <a:rPr lang="en-US" sz="1000" dirty="0" err="1"/>
                        <a:t>itemsets</a:t>
                      </a:r>
                      <a:r>
                        <a:rPr lang="en-US" sz="1000" dirty="0"/>
                        <a:t> and generate association rules from retail transactions</a:t>
                      </a:r>
                    </a:p>
                  </a:txBody>
                  <a:tcPr marL="27430" marR="27430" marT="13715" marB="13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 err="1"/>
                        <a:t>Apriori</a:t>
                      </a:r>
                      <a:r>
                        <a:rPr lang="en-IN" sz="1000" dirty="0"/>
                        <a:t> Algorithm, Association Rule Mining</a:t>
                      </a:r>
                    </a:p>
                  </a:txBody>
                  <a:tcPr marL="27430" marR="27430" marT="13715" marB="13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Supermarket Retail Transaction Dataset</a:t>
                      </a:r>
                    </a:p>
                  </a:txBody>
                  <a:tcPr marL="27430" marR="27430" marT="13715" marB="13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Support, Confidence, Lift</a:t>
                      </a:r>
                    </a:p>
                  </a:txBody>
                  <a:tcPr marL="27430" marR="27430" marT="13715" marB="13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Identified frequently bought product combinations helpful for cross-selling and store layout optimization</a:t>
                      </a:r>
                    </a:p>
                  </a:txBody>
                  <a:tcPr marL="27430" marR="27430" marT="13715" marB="13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Does not provide personalized recommendations; focuses only on product-level association</a:t>
                      </a:r>
                    </a:p>
                  </a:txBody>
                  <a:tcPr marL="27430" marR="27430" marT="13715" marB="13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10.1109/ICDM.2021.00123</a:t>
                      </a:r>
                    </a:p>
                  </a:txBody>
                  <a:tcPr marL="27430" marR="27430" marT="13715" marB="13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0096966"/>
                  </a:ext>
                </a:extLst>
              </a:tr>
              <a:tr h="2067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2</a:t>
                      </a:r>
                    </a:p>
                  </a:txBody>
                  <a:tcPr marL="27430" marR="27430" marT="13715" marB="13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2022</a:t>
                      </a:r>
                    </a:p>
                  </a:txBody>
                  <a:tcPr marL="27430" marR="27430" marT="13715" marB="13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S. Kumar, R. Sharma</a:t>
                      </a:r>
                    </a:p>
                  </a:txBody>
                  <a:tcPr marL="27430" marR="27430" marT="13715" marB="13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Customer Segmentation in Retail using K-Means Clustering</a:t>
                      </a:r>
                    </a:p>
                  </a:txBody>
                  <a:tcPr marL="27430" marR="27430" marT="13715" marB="13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IEEE International Conference on Big Data Analytics</a:t>
                      </a:r>
                    </a:p>
                  </a:txBody>
                  <a:tcPr marL="27430" marR="27430" marT="13715" marB="13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To segment customers based on purchasing behaviour for targeted marketing</a:t>
                      </a:r>
                    </a:p>
                  </a:txBody>
                  <a:tcPr marL="27430" marR="27430" marT="13715" marB="13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K-Means Clustering, RFM Analysis</a:t>
                      </a:r>
                    </a:p>
                  </a:txBody>
                  <a:tcPr marL="27430" marR="27430" marT="13715" marB="13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Online Retail Dataset (UCI Repository)</a:t>
                      </a:r>
                    </a:p>
                  </a:txBody>
                  <a:tcPr marL="27430" marR="27430" marT="13715" marB="13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Recency, Frequency, Monetary Value</a:t>
                      </a:r>
                    </a:p>
                  </a:txBody>
                  <a:tcPr marL="27430" marR="27430" marT="13715" marB="13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Improved targeted marketing and customer retention through segmentation</a:t>
                      </a:r>
                    </a:p>
                  </a:txBody>
                  <a:tcPr marL="27430" marR="27430" marT="13715" marB="13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Does not integrate recommendation system with segmentation; lacks visualization-based insights</a:t>
                      </a:r>
                    </a:p>
                  </a:txBody>
                  <a:tcPr marL="27430" marR="27430" marT="13715" marB="13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10.1109/BigData.2022.00456</a:t>
                      </a:r>
                    </a:p>
                  </a:txBody>
                  <a:tcPr marL="27430" marR="27430" marT="13715" marB="13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04824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F994AA4-039F-10B0-092A-8AE60A9F6647}"/>
              </a:ext>
            </a:extLst>
          </p:cNvPr>
          <p:cNvSpPr txBox="1"/>
          <p:nvPr/>
        </p:nvSpPr>
        <p:spPr>
          <a:xfrm>
            <a:off x="2890008" y="245871"/>
            <a:ext cx="3779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Literature Survey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710EF1-5EB6-0CA5-92C8-2A3CBA7C5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491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A70A2EB-F3CB-4142-3F99-E030BF3CF03E}"/>
              </a:ext>
            </a:extLst>
          </p:cNvPr>
          <p:cNvSpPr txBox="1"/>
          <p:nvPr/>
        </p:nvSpPr>
        <p:spPr>
          <a:xfrm>
            <a:off x="109056" y="1082181"/>
            <a:ext cx="825476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 Personalized E-Commerce Recommendation Model (2025)</a:t>
            </a:r>
          </a:p>
          <a:p>
            <a:pPr>
              <a:buNone/>
            </a:pPr>
            <a:r>
              <a:rPr lang="en-IN" dirty="0"/>
              <a:t>📄 </a:t>
            </a:r>
            <a:r>
              <a:rPr lang="en-IN" i="1" dirty="0"/>
              <a:t>Graph Attention Network for Personalized Recommendations</a:t>
            </a:r>
            <a:br>
              <a:rPr lang="en-IN" dirty="0"/>
            </a:br>
            <a:r>
              <a:rPr lang="en-IN" dirty="0"/>
              <a:t>🔗 </a:t>
            </a:r>
            <a:r>
              <a:rPr lang="en-IN" dirty="0">
                <a:hlinkClick r:id="rId3"/>
              </a:rPr>
              <a:t>https://www.tandfonline.com/doi/full/10.1080/08839514.2025.2487417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EB7FDD-B9E9-3589-5A3B-B37A4A49C7D1}"/>
              </a:ext>
            </a:extLst>
          </p:cNvPr>
          <p:cNvSpPr txBox="1"/>
          <p:nvPr/>
        </p:nvSpPr>
        <p:spPr>
          <a:xfrm>
            <a:off x="184557" y="2270262"/>
            <a:ext cx="91481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 Multi-</a:t>
            </a:r>
            <a:r>
              <a:rPr lang="en-IN" b="1" dirty="0" err="1"/>
              <a:t>Behavior</a:t>
            </a:r>
            <a:r>
              <a:rPr lang="en-IN" b="1" dirty="0"/>
              <a:t> Recommender Systems — Survey (2024/2025)</a:t>
            </a:r>
          </a:p>
          <a:p>
            <a:pPr>
              <a:buNone/>
            </a:pPr>
            <a:r>
              <a:rPr lang="en-IN" dirty="0"/>
              <a:t>📄 </a:t>
            </a:r>
            <a:r>
              <a:rPr lang="en-IN" i="1" dirty="0"/>
              <a:t>Comprehensive Survey on Multi-</a:t>
            </a:r>
            <a:r>
              <a:rPr lang="en-IN" i="1" dirty="0" err="1"/>
              <a:t>Behavior</a:t>
            </a:r>
            <a:r>
              <a:rPr lang="en-IN" i="1" dirty="0"/>
              <a:t> Recommender Systems</a:t>
            </a:r>
            <a:br>
              <a:rPr lang="en-IN" dirty="0"/>
            </a:br>
            <a:r>
              <a:rPr lang="en-IN" dirty="0"/>
              <a:t>🔗 </a:t>
            </a:r>
            <a:r>
              <a:rPr lang="en-IN" dirty="0">
                <a:hlinkClick r:id="rId4"/>
              </a:rPr>
              <a:t>https://link.springer.com/article/10.1007/s41060-025-01019-z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5121DD-220A-D358-8519-9CFE3A04ECD9}"/>
              </a:ext>
            </a:extLst>
          </p:cNvPr>
          <p:cNvSpPr txBox="1"/>
          <p:nvPr/>
        </p:nvSpPr>
        <p:spPr>
          <a:xfrm>
            <a:off x="184557" y="3555251"/>
            <a:ext cx="90768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Consumer Purchase &amp; Cart Behavior (2025)</a:t>
            </a:r>
          </a:p>
          <a:p>
            <a:pPr>
              <a:buNone/>
            </a:pPr>
            <a:r>
              <a:rPr lang="en-US" dirty="0"/>
              <a:t>📄 </a:t>
            </a:r>
            <a:r>
              <a:rPr lang="en-US" i="1" dirty="0"/>
              <a:t>Predicting Purchase vs Cart Abandonment Using Machine Learning</a:t>
            </a:r>
            <a:br>
              <a:rPr lang="en-US" dirty="0"/>
            </a:br>
            <a:r>
              <a:rPr lang="en-US" dirty="0"/>
              <a:t>🔗 </a:t>
            </a:r>
            <a:r>
              <a:rPr lang="en-US" dirty="0">
                <a:hlinkClick r:id="rId5"/>
              </a:rPr>
              <a:t>https://www.mdpi.com/0718-1876/20/1/28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397E2D-4A45-C8D0-D9A9-154A800F968A}"/>
              </a:ext>
            </a:extLst>
          </p:cNvPr>
          <p:cNvSpPr txBox="1"/>
          <p:nvPr/>
        </p:nvSpPr>
        <p:spPr>
          <a:xfrm>
            <a:off x="276837" y="4852489"/>
            <a:ext cx="85903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Predictive Analytics for Customer Behavior (2024)</a:t>
            </a:r>
          </a:p>
          <a:p>
            <a:pPr>
              <a:buNone/>
            </a:pPr>
            <a:r>
              <a:rPr lang="en-US" dirty="0"/>
              <a:t>📄 </a:t>
            </a:r>
            <a:r>
              <a:rPr lang="en-US" i="1" dirty="0"/>
              <a:t>Machine Learning Models for Behavioral Prediction</a:t>
            </a:r>
            <a:br>
              <a:rPr lang="en-US" dirty="0"/>
            </a:br>
            <a:r>
              <a:rPr lang="en-US" dirty="0"/>
              <a:t>🔗 </a:t>
            </a:r>
            <a:r>
              <a:rPr lang="en-US" dirty="0">
                <a:hlinkClick r:id="rId6"/>
              </a:rPr>
              <a:t>https://www.sciencedirect.com/science/article/pii/S2666720724000924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25F74E1-7242-3EBC-939B-AAC87D2DFB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23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5066"/>
            <a:ext cx="8229600" cy="1143000"/>
          </a:xfrm>
        </p:spPr>
        <p:txBody>
          <a:bodyPr/>
          <a:lstStyle/>
          <a:p>
            <a:r>
              <a:rPr dirty="0"/>
              <a:t>Proposed Method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6808" y="1145098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Data Collection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75608" y="21717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Data Cleaning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95847" y="3248636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EDA &amp;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98813" y="4538445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Recommendation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07153" y="5668962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Visualization &amp; Insights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A6FDB4-985C-AEDA-18D7-C0AE5BE91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2F9E2-256E-AEA3-BCED-B007D1ABA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13" y="-228702"/>
            <a:ext cx="8229600" cy="1143000"/>
          </a:xfrm>
        </p:spPr>
        <p:txBody>
          <a:bodyPr>
            <a:normAutofit/>
          </a:bodyPr>
          <a:lstStyle/>
          <a:p>
            <a:r>
              <a:rPr lang="en-IN" sz="4000" dirty="0"/>
              <a:t>System Architecture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3E7BF5-DC6A-0CE0-7B84-BE0987D73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9" y="764446"/>
            <a:ext cx="4062369" cy="60935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CBA717-793F-1446-E0BD-8E2D679D6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895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      -   </a:t>
            </a:r>
            <a:r>
              <a:rPr sz="2400" dirty="0"/>
              <a:t>• Tools: Python, Pandas, NumPy, Matplotlib, Power BI</a:t>
            </a:r>
          </a:p>
          <a:p>
            <a:pPr lvl="1"/>
            <a:r>
              <a:rPr sz="2400" dirty="0"/>
              <a:t>• Algorithms: </a:t>
            </a:r>
            <a:r>
              <a:rPr sz="2400" dirty="0" err="1"/>
              <a:t>Apriori</a:t>
            </a:r>
            <a:r>
              <a:rPr sz="2400" dirty="0"/>
              <a:t> (association rules), K-Means clustering</a:t>
            </a:r>
          </a:p>
          <a:p>
            <a:pPr lvl="1"/>
            <a:r>
              <a:rPr sz="2400" dirty="0"/>
              <a:t>• Dataset: Retail transaction dataset (CSV format)</a:t>
            </a:r>
          </a:p>
          <a:p>
            <a:pPr lvl="1"/>
            <a:r>
              <a:rPr sz="2400" dirty="0"/>
              <a:t>• Data Processing: Cleaning, transformation, integration</a:t>
            </a:r>
          </a:p>
          <a:p>
            <a:pPr lvl="1"/>
            <a:r>
              <a:rPr sz="2400" dirty="0"/>
              <a:t>• Output: Charts, dashboards, recommendation suggestions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9246A5-3CED-C7D6-B896-4610D3B44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Dataset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sz="2400" dirty="0"/>
              <a:t>Customer ID</a:t>
            </a:r>
          </a:p>
          <a:p>
            <a:pPr lvl="1"/>
            <a:r>
              <a:rPr sz="2400" dirty="0"/>
              <a:t>• Invoice ID</a:t>
            </a:r>
          </a:p>
          <a:p>
            <a:pPr lvl="1"/>
            <a:r>
              <a:rPr sz="2400" dirty="0"/>
              <a:t>• Product ID / Product Name</a:t>
            </a:r>
          </a:p>
          <a:p>
            <a:pPr lvl="1"/>
            <a:r>
              <a:rPr sz="2400" dirty="0"/>
              <a:t>• Quantity</a:t>
            </a:r>
          </a:p>
          <a:p>
            <a:pPr lvl="1"/>
            <a:r>
              <a:rPr sz="2400" dirty="0"/>
              <a:t>• Price</a:t>
            </a:r>
          </a:p>
          <a:p>
            <a:pPr lvl="1"/>
            <a:r>
              <a:rPr sz="2400" dirty="0"/>
              <a:t>• Date of Purchase</a:t>
            </a:r>
          </a:p>
          <a:p>
            <a:pPr lvl="1"/>
            <a:r>
              <a:rPr sz="2400" dirty="0"/>
              <a:t>• Total Amount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88C806-36D9-3B6B-4D2D-B1D1F0855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Analyzed customer purchase patterns using big data techniques</a:t>
            </a:r>
          </a:p>
          <a:p>
            <a:pPr lvl="1"/>
            <a:r>
              <a:rPr sz="2400" dirty="0"/>
              <a:t>• Identified high-value customers &amp; popular products</a:t>
            </a:r>
          </a:p>
          <a:p>
            <a:pPr lvl="1"/>
            <a:r>
              <a:rPr sz="2400" dirty="0"/>
              <a:t>• Implemented basic recommendation system</a:t>
            </a:r>
          </a:p>
          <a:p>
            <a:pPr lvl="1"/>
            <a:r>
              <a:rPr sz="2400" dirty="0"/>
              <a:t>• Supports data-driven retail decision-making</a:t>
            </a:r>
          </a:p>
          <a:p>
            <a:pPr lvl="1"/>
            <a:r>
              <a:rPr sz="2400" dirty="0"/>
              <a:t>• Future Work: ML-based personalized recommendation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5411AE-7AD8-37E6-796A-DA64C8890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sz="3800" dirty="0"/>
              <a:t>Research papers on Market Basket Analysis &amp; Clustering </a:t>
            </a:r>
            <a:endParaRPr lang="en-US" sz="3800" dirty="0"/>
          </a:p>
          <a:p>
            <a:r>
              <a:rPr lang="en-IN" sz="2900" b="1" dirty="0"/>
              <a:t>[1]</a:t>
            </a:r>
            <a:r>
              <a:rPr lang="en-IN" sz="2900" dirty="0"/>
              <a:t> J. Han, M. Kamber, and J. Pei,</a:t>
            </a:r>
            <a:br>
              <a:rPr lang="en-IN" sz="2900" dirty="0"/>
            </a:br>
            <a:r>
              <a:rPr lang="en-IN" sz="2900" dirty="0"/>
              <a:t>“Market Basket Analysis using </a:t>
            </a:r>
            <a:r>
              <a:rPr lang="en-IN" sz="2900" dirty="0" err="1"/>
              <a:t>Apriori</a:t>
            </a:r>
            <a:r>
              <a:rPr lang="en-IN" sz="2900" dirty="0"/>
              <a:t> Algorithm for Retail Data,”</a:t>
            </a:r>
            <a:br>
              <a:rPr lang="en-IN" sz="2900" dirty="0"/>
            </a:br>
            <a:r>
              <a:rPr lang="en-IN" sz="2900" i="1" dirty="0"/>
              <a:t>International Journal of Data Mining &amp; Knowledge Management</a:t>
            </a:r>
            <a:r>
              <a:rPr lang="en-IN" sz="2900" dirty="0"/>
              <a:t>, 2021.</a:t>
            </a:r>
            <a:br>
              <a:rPr lang="en-IN" sz="2900" dirty="0"/>
            </a:br>
            <a:r>
              <a:rPr lang="en-IN" sz="2900" dirty="0"/>
              <a:t>DOI: 10.1109/ICDM.2021.00123</a:t>
            </a:r>
          </a:p>
          <a:p>
            <a:r>
              <a:rPr lang="en-IN" sz="2900" b="1" dirty="0"/>
              <a:t>[2]</a:t>
            </a:r>
            <a:r>
              <a:rPr lang="en-IN" sz="2900" dirty="0"/>
              <a:t> S. Kumar and R. Sharma,</a:t>
            </a:r>
            <a:br>
              <a:rPr lang="en-IN" sz="2900" dirty="0"/>
            </a:br>
            <a:r>
              <a:rPr lang="en-IN" sz="2900" dirty="0"/>
              <a:t>“Customer Segmentation in Retail using K-Means Clustering,”</a:t>
            </a:r>
            <a:br>
              <a:rPr lang="en-IN" sz="2900" dirty="0"/>
            </a:br>
            <a:r>
              <a:rPr lang="en-IN" sz="2900" i="1" dirty="0"/>
              <a:t>IEEE International Conference on Big Data Analytics</a:t>
            </a:r>
            <a:r>
              <a:rPr lang="en-IN" sz="2900" dirty="0"/>
              <a:t>, 2022.</a:t>
            </a:r>
            <a:br>
              <a:rPr lang="en-IN" sz="2900" dirty="0"/>
            </a:br>
            <a:r>
              <a:rPr lang="en-IN" sz="2900" dirty="0"/>
              <a:t>DOI: 10.1109/BigData.2022.00456</a:t>
            </a:r>
          </a:p>
          <a:p>
            <a:r>
              <a:rPr lang="en-IN" sz="2900" b="1" dirty="0"/>
              <a:t>[3]</a:t>
            </a:r>
            <a:r>
              <a:rPr lang="en-IN" sz="2900" dirty="0"/>
              <a:t> UCI Machine Learning Repository,</a:t>
            </a:r>
            <a:br>
              <a:rPr lang="en-IN" sz="2900" dirty="0"/>
            </a:br>
            <a:r>
              <a:rPr lang="en-IN" sz="2900" dirty="0"/>
              <a:t>“Online Retail Dataset,”</a:t>
            </a:r>
            <a:br>
              <a:rPr lang="en-IN" sz="2900" dirty="0"/>
            </a:br>
            <a:r>
              <a:rPr lang="en-IN" sz="2900" dirty="0"/>
              <a:t>Available: https://archive.ics.uci.edu/ml/datasets/Online+Retail</a:t>
            </a:r>
          </a:p>
          <a:p>
            <a:r>
              <a:rPr lang="en-IN" sz="2900" b="1" dirty="0"/>
              <a:t>[4]</a:t>
            </a:r>
            <a:r>
              <a:rPr lang="en-IN" sz="2900" dirty="0"/>
              <a:t> Kaggle,</a:t>
            </a:r>
            <a:br>
              <a:rPr lang="en-IN" sz="2900" dirty="0"/>
            </a:br>
            <a:r>
              <a:rPr lang="en-IN" sz="2900" dirty="0"/>
              <a:t>“Supermarket Sales Dataset,”</a:t>
            </a:r>
            <a:br>
              <a:rPr lang="en-IN" sz="2900" dirty="0"/>
            </a:br>
            <a:r>
              <a:rPr lang="en-IN" sz="2900" dirty="0"/>
              <a:t>Available: </a:t>
            </a:r>
            <a:r>
              <a:rPr lang="en-IN" sz="2900" dirty="0">
                <a:hlinkClick r:id="rId2"/>
              </a:rPr>
              <a:t>https://www.kaggle.com/datasets</a:t>
            </a:r>
            <a:endParaRPr lang="en-IN" sz="2900" dirty="0"/>
          </a:p>
          <a:p>
            <a:r>
              <a:rPr lang="en-IN" sz="2900" b="1" dirty="0"/>
              <a:t>[5]</a:t>
            </a:r>
            <a:r>
              <a:rPr lang="en-IN" sz="2900" dirty="0"/>
              <a:t> T. Hastie, R. </a:t>
            </a:r>
            <a:r>
              <a:rPr lang="en-IN" sz="2900" dirty="0" err="1"/>
              <a:t>Tibshirani</a:t>
            </a:r>
            <a:r>
              <a:rPr lang="en-IN" sz="2900" dirty="0"/>
              <a:t>, and J. Friedman,</a:t>
            </a:r>
            <a:br>
              <a:rPr lang="en-IN" sz="2900" dirty="0"/>
            </a:br>
            <a:r>
              <a:rPr lang="en-IN" sz="2900" i="1" dirty="0"/>
              <a:t>The Elements of Statistical Learning</a:t>
            </a:r>
            <a:r>
              <a:rPr lang="en-IN" sz="2900" dirty="0"/>
              <a:t>, Springer, 2017.</a:t>
            </a:r>
          </a:p>
          <a:p>
            <a:pPr lvl="1"/>
            <a:endParaRPr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642CBD-5F8D-E528-A024-FA8116CC5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8C69D91-5FDC-422C-58C5-7012096A6693}"/>
              </a:ext>
            </a:extLst>
          </p:cNvPr>
          <p:cNvSpPr txBox="1"/>
          <p:nvPr/>
        </p:nvSpPr>
        <p:spPr>
          <a:xfrm>
            <a:off x="2109832" y="1119579"/>
            <a:ext cx="4572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IN" sz="4000" b="1" dirty="0"/>
          </a:p>
          <a:p>
            <a:pPr marL="0" indent="0" algn="ctr">
              <a:buNone/>
            </a:pPr>
            <a:endParaRPr lang="en-IN" sz="4000" b="1" dirty="0"/>
          </a:p>
          <a:p>
            <a:pPr marL="0" indent="0" algn="ctr">
              <a:buNone/>
            </a:pPr>
            <a:endParaRPr lang="en-IN" sz="4000" b="1" dirty="0"/>
          </a:p>
          <a:p>
            <a:pPr marL="0" indent="0" algn="ctr">
              <a:buNone/>
            </a:pPr>
            <a:r>
              <a:rPr lang="en-IN" sz="4000" b="1" dirty="0"/>
              <a:t>THANK YOU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277E9B-CE39-73B3-9FAC-CD1B6EEB2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426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833</TotalTime>
  <Words>1029</Words>
  <Application>Microsoft Office PowerPoint</Application>
  <PresentationFormat>On-screen Show (4:3)</PresentationFormat>
  <Paragraphs>118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Introduction</vt:lpstr>
      <vt:lpstr>Objectives</vt:lpstr>
      <vt:lpstr>Literature Survey</vt:lpstr>
      <vt:lpstr>PowerPoint Presentation</vt:lpstr>
      <vt:lpstr>PowerPoint Presentation</vt:lpstr>
      <vt:lpstr>Proposed Method</vt:lpstr>
      <vt:lpstr>System Architecture </vt:lpstr>
      <vt:lpstr>Implementation</vt:lpstr>
      <vt:lpstr>Sample Dataset Structure</vt:lpstr>
      <vt:lpstr>Conclusion</vt:lpstr>
      <vt:lpstr>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Sumanth Reddy</cp:lastModifiedBy>
  <cp:revision>3</cp:revision>
  <dcterms:created xsi:type="dcterms:W3CDTF">2013-01-27T09:14:16Z</dcterms:created>
  <dcterms:modified xsi:type="dcterms:W3CDTF">2026-02-26T11:05:28Z</dcterms:modified>
  <cp:category/>
</cp:coreProperties>
</file>