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1"/>
  </p:notesMasterIdLst>
  <p:sldIdLst>
    <p:sldId id="256" r:id="rId2"/>
    <p:sldId id="271" r:id="rId3"/>
    <p:sldId id="285" r:id="rId4"/>
    <p:sldId id="259" r:id="rId5"/>
    <p:sldId id="286" r:id="rId6"/>
    <p:sldId id="263" r:id="rId7"/>
    <p:sldId id="287" r:id="rId8"/>
    <p:sldId id="288" r:id="rId9"/>
    <p:sldId id="289" r:id="rId10"/>
    <p:sldId id="290" r:id="rId11"/>
    <p:sldId id="282" r:id="rId12"/>
    <p:sldId id="291" r:id="rId13"/>
    <p:sldId id="267" r:id="rId14"/>
    <p:sldId id="268" r:id="rId15"/>
    <p:sldId id="276" r:id="rId16"/>
    <p:sldId id="293" r:id="rId17"/>
    <p:sldId id="294" r:id="rId18"/>
    <p:sldId id="296" r:id="rId19"/>
    <p:sldId id="297"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hoever" initials="w" lastIdx="1" clrIdx="0">
    <p:extLst>
      <p:ext uri="{19B8F6BF-5375-455C-9EA6-DF929625EA0E}">
        <p15:presenceInfo xmlns:p15="http://schemas.microsoft.com/office/powerpoint/2012/main" userId="whoev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315" autoAdjust="0"/>
    <p:restoredTop sz="94660"/>
  </p:normalViewPr>
  <p:slideViewPr>
    <p:cSldViewPr snapToGrid="0">
      <p:cViewPr varScale="1">
        <p:scale>
          <a:sx n="90" d="100"/>
          <a:sy n="90" d="100"/>
        </p:scale>
        <p:origin x="62" y="322"/>
      </p:cViewPr>
      <p:guideLst/>
    </p:cSldViewPr>
  </p:slideViewPr>
  <p:notesTextViewPr>
    <p:cViewPr>
      <p:scale>
        <a:sx n="1" d="1"/>
        <a:sy n="1" d="1"/>
      </p:scale>
      <p:origin x="0" y="0"/>
    </p:cViewPr>
  </p:notesTextViewPr>
  <p:notesViewPr>
    <p:cSldViewPr snapToGrid="0">
      <p:cViewPr varScale="1">
        <p:scale>
          <a:sx n="57" d="100"/>
          <a:sy n="57" d="100"/>
        </p:scale>
        <p:origin x="2560"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06490A-2B5A-4A78-88B4-B9069912938D}" type="datetimeFigureOut">
              <a:rPr lang="en-IN" smtClean="0"/>
              <a:t>11-03-2026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DC21B1-72C9-48EC-AE48-8F81FCB3CC8F}" type="slidenum">
              <a:rPr lang="en-IN" smtClean="0"/>
              <a:t>‹#›</a:t>
            </a:fld>
            <a:endParaRPr lang="en-IN"/>
          </a:p>
        </p:txBody>
      </p:sp>
    </p:spTree>
    <p:extLst>
      <p:ext uri="{BB962C8B-B14F-4D97-AF65-F5344CB8AC3E}">
        <p14:creationId xmlns:p14="http://schemas.microsoft.com/office/powerpoint/2010/main" val="1330992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2DC21B1-72C9-48EC-AE48-8F81FCB3CC8F}" type="slidenum">
              <a:rPr lang="en-IN" smtClean="0"/>
              <a:t>13</a:t>
            </a:fld>
            <a:endParaRPr lang="en-IN"/>
          </a:p>
        </p:txBody>
      </p:sp>
    </p:spTree>
    <p:extLst>
      <p:ext uri="{BB962C8B-B14F-4D97-AF65-F5344CB8AC3E}">
        <p14:creationId xmlns:p14="http://schemas.microsoft.com/office/powerpoint/2010/main" val="2693323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3/11/2026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3/11/2026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3/11/2026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3/11/2026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3/11/2026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3/11/2026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3/11/2026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3/11/2026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3/11/2026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3/11/2026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3/11/2026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3/11/2026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318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63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chatgpt://generic-entity/?number=1" TargetMode="External"/><Relationship Id="rId2" Type="http://schemas.openxmlformats.org/officeDocument/2006/relationships/hyperlink" Target="chatgpt://generic-entity/?number=0" TargetMode="External"/><Relationship Id="rId1" Type="http://schemas.openxmlformats.org/officeDocument/2006/relationships/slideLayout" Target="../slideLayouts/slideLayout1.xml"/><Relationship Id="rId5" Type="http://schemas.openxmlformats.org/officeDocument/2006/relationships/hyperlink" Target="chatgpt://generic-entity/?number=3" TargetMode="External"/><Relationship Id="rId4" Type="http://schemas.openxmlformats.org/officeDocument/2006/relationships/hyperlink" Target="chatgpt://generic-entity/?number=2"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93506" y="857643"/>
            <a:ext cx="8991600" cy="1645920"/>
          </a:xfrm>
        </p:spPr>
        <p:txBody>
          <a:bodyPr>
            <a:normAutofit fontScale="90000"/>
          </a:bodyPr>
          <a:lstStyle/>
          <a:p>
            <a:r>
              <a:rPr lang="en-US" dirty="0"/>
              <a:t>Smart Customer Purchase Analytics &amp; RECOMMENDATION SYSTEM</a:t>
            </a:r>
            <a:endParaRPr lang="en-IN" dirty="0"/>
          </a:p>
        </p:txBody>
      </p:sp>
      <p:sp>
        <p:nvSpPr>
          <p:cNvPr id="3" name="Subtitle 2"/>
          <p:cNvSpPr>
            <a:spLocks noGrp="1"/>
          </p:cNvSpPr>
          <p:nvPr>
            <p:ph type="subTitle" idx="1"/>
          </p:nvPr>
        </p:nvSpPr>
        <p:spPr>
          <a:xfrm>
            <a:off x="3284376" y="2977295"/>
            <a:ext cx="5195394" cy="2634634"/>
          </a:xfrm>
        </p:spPr>
        <p:txBody>
          <a:bodyPr>
            <a:normAutofit/>
          </a:bodyPr>
          <a:lstStyle/>
          <a:p>
            <a:r>
              <a:rPr lang="en-US" b="1" u="sng" dirty="0">
                <a:solidFill>
                  <a:schemeClr val="tx1">
                    <a:lumMod val="95000"/>
                  </a:schemeClr>
                </a:solidFill>
              </a:rPr>
              <a:t>MENTOR:</a:t>
            </a:r>
            <a:r>
              <a:rPr lang="en-US" dirty="0">
                <a:solidFill>
                  <a:schemeClr val="tx1">
                    <a:lumMod val="95000"/>
                  </a:schemeClr>
                </a:solidFill>
              </a:rPr>
              <a:t> Dr N. Shirisha</a:t>
            </a:r>
            <a:r>
              <a:rPr lang="en-IN" altLang="en-US" dirty="0">
                <a:solidFill>
                  <a:schemeClr val="tx1">
                    <a:lumMod val="95000"/>
                  </a:schemeClr>
                </a:solidFill>
              </a:rPr>
              <a:t>,  </a:t>
            </a:r>
            <a:r>
              <a:rPr lang="en-IN" altLang="en-US" dirty="0" err="1">
                <a:solidFill>
                  <a:schemeClr val="tx1">
                    <a:lumMod val="95000"/>
                  </a:schemeClr>
                </a:solidFill>
              </a:rPr>
              <a:t>Assoc.Prof</a:t>
            </a:r>
            <a:r>
              <a:rPr lang="en-IN" altLang="en-US" dirty="0">
                <a:solidFill>
                  <a:schemeClr val="tx1">
                    <a:lumMod val="95000"/>
                  </a:schemeClr>
                </a:solidFill>
              </a:rPr>
              <a:t>.</a:t>
            </a:r>
            <a:endParaRPr lang="en-US" dirty="0">
              <a:solidFill>
                <a:schemeClr val="tx1">
                  <a:lumMod val="95000"/>
                </a:schemeClr>
              </a:solidFill>
            </a:endParaRPr>
          </a:p>
          <a:p>
            <a:r>
              <a:rPr lang="en-US" b="1" u="sng" dirty="0">
                <a:solidFill>
                  <a:schemeClr val="tx1">
                    <a:lumMod val="95000"/>
                  </a:schemeClr>
                </a:solidFill>
              </a:rPr>
              <a:t>BATCH NO:</a:t>
            </a:r>
            <a:r>
              <a:rPr lang="en-US" b="1" dirty="0">
                <a:solidFill>
                  <a:schemeClr val="tx1">
                    <a:lumMod val="95000"/>
                  </a:schemeClr>
                </a:solidFill>
              </a:rPr>
              <a:t> 12</a:t>
            </a:r>
            <a:endParaRPr lang="en-US" dirty="0">
              <a:solidFill>
                <a:schemeClr val="tx1">
                  <a:lumMod val="95000"/>
                </a:schemeClr>
              </a:solidFill>
            </a:endParaRPr>
          </a:p>
          <a:p>
            <a:r>
              <a:rPr lang="en-US" b="1" u="sng" dirty="0">
                <a:solidFill>
                  <a:schemeClr val="tx1">
                    <a:lumMod val="95000"/>
                  </a:schemeClr>
                </a:solidFill>
              </a:rPr>
              <a:t>TEAM MEMBERS:</a:t>
            </a:r>
          </a:p>
          <a:p>
            <a:r>
              <a:rPr lang="en-US" dirty="0">
                <a:solidFill>
                  <a:schemeClr val="tx1">
                    <a:lumMod val="95000"/>
                  </a:schemeClr>
                </a:solidFill>
              </a:rPr>
              <a:t>2320030284 – N .V. Sumanth Reddy</a:t>
            </a:r>
          </a:p>
          <a:p>
            <a:r>
              <a:rPr lang="en-US" dirty="0">
                <a:solidFill>
                  <a:schemeClr val="tx1">
                    <a:lumMod val="95000"/>
                  </a:schemeClr>
                </a:solidFill>
              </a:rPr>
              <a:t>2320030020 – </a:t>
            </a:r>
            <a:r>
              <a:rPr lang="en-US" dirty="0" err="1">
                <a:solidFill>
                  <a:schemeClr val="tx1">
                    <a:lumMod val="95000"/>
                  </a:schemeClr>
                </a:solidFill>
              </a:rPr>
              <a:t>P.Manikanta</a:t>
            </a:r>
            <a:endParaRPr lang="en-US" dirty="0">
              <a:solidFill>
                <a:schemeClr val="tx1">
                  <a:lumMod val="95000"/>
                </a:schemeClr>
              </a:solidFill>
            </a:endParaRPr>
          </a:p>
          <a:p>
            <a:r>
              <a:rPr lang="en-US" dirty="0">
                <a:solidFill>
                  <a:schemeClr val="tx1">
                    <a:lumMod val="95000"/>
                  </a:schemeClr>
                </a:solidFill>
              </a:rPr>
              <a:t>2320030002 – </a:t>
            </a:r>
            <a:r>
              <a:rPr lang="en-US" dirty="0" err="1">
                <a:solidFill>
                  <a:schemeClr val="tx1">
                    <a:lumMod val="95000"/>
                  </a:schemeClr>
                </a:solidFill>
              </a:rPr>
              <a:t>S.Rahul</a:t>
            </a:r>
            <a:endParaRPr lang="en-US" dirty="0">
              <a:solidFill>
                <a:schemeClr val="tx1">
                  <a:lumMod val="95000"/>
                </a:schemeClr>
              </a:solidFill>
            </a:endParaRPr>
          </a:p>
          <a:p>
            <a:endParaRPr lang="en-IN" dirty="0"/>
          </a:p>
        </p:txBody>
      </p:sp>
      <p:sp>
        <p:nvSpPr>
          <p:cNvPr id="4" name="Text Box 3"/>
          <p:cNvSpPr txBox="1"/>
          <p:nvPr/>
        </p:nvSpPr>
        <p:spPr>
          <a:xfrm>
            <a:off x="7329805" y="3035300"/>
            <a:ext cx="309880" cy="368300"/>
          </a:xfrm>
          <a:prstGeom prst="rect">
            <a:avLst/>
          </a:prstGeom>
          <a:noFill/>
        </p:spPr>
        <p:txBody>
          <a:bodyPr wrap="none" rtlCol="0">
            <a:spAutoFit/>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33948" y="1093617"/>
            <a:ext cx="9724103" cy="912163"/>
          </a:xfrm>
        </p:spPr>
        <p:txBody>
          <a:bodyPr>
            <a:normAutofit/>
          </a:bodyPr>
          <a:lstStyle/>
          <a:p>
            <a:r>
              <a:rPr lang="en-US" dirty="0"/>
              <a:t>Table of contents</a:t>
            </a:r>
            <a:endParaRPr lang="en-IN" dirty="0"/>
          </a:p>
        </p:txBody>
      </p:sp>
      <p:sp>
        <p:nvSpPr>
          <p:cNvPr id="3" name="Subtitle 2"/>
          <p:cNvSpPr>
            <a:spLocks noGrp="1"/>
          </p:cNvSpPr>
          <p:nvPr>
            <p:ph type="subTitle" idx="1"/>
          </p:nvPr>
        </p:nvSpPr>
        <p:spPr>
          <a:xfrm>
            <a:off x="1233948" y="2269067"/>
            <a:ext cx="8021813" cy="4233333"/>
          </a:xfrm>
        </p:spPr>
        <p:txBody>
          <a:bodyPr>
            <a:normAutofit fontScale="92500" lnSpcReduction="20000"/>
          </a:bodyPr>
          <a:lstStyle/>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ABSTRACT</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INTRODUCTION</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EXISTING SYSTEM</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PROPOSED SYSTEM</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OBJECTIVES</a:t>
            </a:r>
            <a:endParaRPr lang="en-US"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LITERATURE SURVEY</a:t>
            </a: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SOFTWARE REQUIREMENTS</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HARDWARE REQUIREMENTS</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FUNCTIONAL REQUIREMENTS</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NON – FUNCTIONAL REQUIREMENTS</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SYSTEM ARCHITECTURE</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UML DIAGRAM</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ACTIVITY DIAGRAM</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MODULE DESIGN</a:t>
            </a: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2200" b="1" dirty="0">
              <a:solidFill>
                <a:schemeClr val="accent6">
                  <a:lumMod val="50000"/>
                </a:schemeClr>
              </a:solidFill>
              <a:latin typeface="Times New Roman" panose="02020603050405020304" pitchFamily="18" charset="0"/>
              <a:cs typeface="Times New Roman" panose="02020603050405020304" pitchFamily="18" charset="0"/>
            </a:endParaRPr>
          </a:p>
          <a:p>
            <a:pPr marL="342900" indent="-342900" algn="l">
              <a:buClrTx/>
              <a:buFont typeface="Wingdings" panose="05000000000000000000" pitchFamily="2" charset="2"/>
              <a:buChar char="§"/>
            </a:pPr>
            <a:endParaRPr lang="en-IN" dirty="0">
              <a:solidFill>
                <a:schemeClr val="accent6">
                  <a:lumMod val="50000"/>
                </a:schemeClr>
              </a:solidFill>
            </a:endParaRPr>
          </a:p>
          <a:p>
            <a:pPr marL="342900" indent="-342900" algn="l">
              <a:buClrTx/>
              <a:buFont typeface="Wingdings" panose="05000000000000000000" pitchFamily="2" charset="2"/>
              <a:buChar char="§"/>
            </a:pPr>
            <a:endParaRPr lang="en-IN" dirty="0">
              <a:solidFill>
                <a:schemeClr val="accent6">
                  <a:lumMod val="50000"/>
                </a:schemeClr>
              </a:solidFill>
            </a:endParaRPr>
          </a:p>
        </p:txBody>
      </p:sp>
    </p:spTree>
    <p:extLst>
      <p:ext uri="{BB962C8B-B14F-4D97-AF65-F5344CB8AC3E}">
        <p14:creationId xmlns:p14="http://schemas.microsoft.com/office/powerpoint/2010/main" val="4214619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D18D3-8A6B-71F7-8E6D-6E17F8CBA0C1}"/>
              </a:ext>
            </a:extLst>
          </p:cNvPr>
          <p:cNvSpPr>
            <a:spLocks noGrp="1"/>
          </p:cNvSpPr>
          <p:nvPr>
            <p:ph type="ctrTitle"/>
          </p:nvPr>
        </p:nvSpPr>
        <p:spPr>
          <a:xfrm>
            <a:off x="1600200" y="442602"/>
            <a:ext cx="8991600" cy="1645920"/>
          </a:xfrm>
        </p:spPr>
        <p:txBody>
          <a:bodyPr>
            <a:normAutofit/>
          </a:bodyPr>
          <a:lstStyle/>
          <a:p>
            <a:r>
              <a:rPr lang="en-IN" sz="3200" dirty="0"/>
              <a:t>Review – 2 comments addressed</a:t>
            </a:r>
          </a:p>
        </p:txBody>
      </p:sp>
      <p:sp>
        <p:nvSpPr>
          <p:cNvPr id="3" name="Subtitle 2">
            <a:extLst>
              <a:ext uri="{FF2B5EF4-FFF2-40B4-BE49-F238E27FC236}">
                <a16:creationId xmlns:a16="http://schemas.microsoft.com/office/drawing/2014/main" id="{38175D99-3C6A-252F-1670-A6E945C244BF}"/>
              </a:ext>
            </a:extLst>
          </p:cNvPr>
          <p:cNvSpPr>
            <a:spLocks noGrp="1"/>
          </p:cNvSpPr>
          <p:nvPr>
            <p:ph type="subTitle" idx="1"/>
          </p:nvPr>
        </p:nvSpPr>
        <p:spPr>
          <a:xfrm>
            <a:off x="1500996" y="3278038"/>
            <a:ext cx="9178506" cy="2314400"/>
          </a:xfrm>
        </p:spPr>
        <p:txBody>
          <a:bodyPr>
            <a:normAutofit/>
          </a:bodyPr>
          <a:lstStyle/>
          <a:p>
            <a:r>
              <a:rPr lang="en-IN" sz="2800" dirty="0"/>
              <a:t>1.Modules of the project need to analyse</a:t>
            </a:r>
          </a:p>
          <a:p>
            <a:r>
              <a:rPr lang="en-IN" sz="2800" dirty="0"/>
              <a:t>2.Tools /Requirements gather</a:t>
            </a:r>
          </a:p>
        </p:txBody>
      </p:sp>
    </p:spTree>
    <p:extLst>
      <p:ext uri="{BB962C8B-B14F-4D97-AF65-F5344CB8AC3E}">
        <p14:creationId xmlns:p14="http://schemas.microsoft.com/office/powerpoint/2010/main" val="1426245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a:t>
            </a:r>
            <a:endParaRPr lang="en-IN" dirty="0"/>
          </a:p>
        </p:txBody>
      </p:sp>
      <p:sp>
        <p:nvSpPr>
          <p:cNvPr id="5" name="Title 1"/>
          <p:cNvSpPr>
            <a:spLocks noGrp="1"/>
          </p:cNvSpPr>
          <p:nvPr>
            <p:ph idx="1"/>
          </p:nvPr>
        </p:nvSpPr>
        <p:spPr>
          <a:xfrm>
            <a:off x="6322142" y="218767"/>
            <a:ext cx="5692877" cy="6420465"/>
          </a:xfrm>
          <a:noFill/>
          <a:ln w="38100">
            <a:solidFill>
              <a:srgbClr val="404040">
                <a:alpha val="57000"/>
              </a:srgbClr>
            </a:solidFill>
          </a:ln>
        </p:spPr>
        <p:txBody>
          <a:bodyPr>
            <a:normAutofit fontScale="85000" lnSpcReduction="20000"/>
          </a:bodyPr>
          <a:lstStyle/>
          <a:p>
            <a:r>
              <a:rPr lang="en-IN" dirty="0"/>
              <a:t>The </a:t>
            </a:r>
            <a:r>
              <a:rPr lang="en-IN" b="1" dirty="0"/>
              <a:t>Smart Customer Purchase Analytics &amp; Recommendation System </a:t>
            </a:r>
            <a:r>
              <a:rPr lang="en-IN" dirty="0"/>
              <a:t>is a data analytics project that focuses on understanding customer purchase behaviour using big data analytics techniques. In today’s digital retail environment, organizations generate very large amounts of transaction data. This data contains useful information about customer preferences, buying patterns, and product performance. However, without proper analysis, this data cannot be effectively used for business decision-making.</a:t>
            </a:r>
          </a:p>
          <a:p>
            <a:r>
              <a:rPr lang="en-IN" dirty="0"/>
              <a:t>This project uses historical customer purchase data to perform data cleaning, data integration, and exploratory data analysis. Different analytical techniques are applied to study sales trends, customer</a:t>
            </a:r>
          </a:p>
          <a:p>
            <a:r>
              <a:rPr lang="en-IN" dirty="0"/>
              <a:t>segmentation, product-wise performance, and purchasing frequency. Data visualization tools are also used to present the results clearly through graphs and charts such as sales trends, category-wise revenue, and customer spending patterns.</a:t>
            </a:r>
          </a:p>
          <a:p>
            <a:r>
              <a:rPr lang="en-IN" dirty="0"/>
              <a:t>In addition, a simple rule-based recommendation method is implemented to suggest products based on customer’s past purchases and frequently bought items. The system helps in identifying high-value customers, popular products, and possible cross-selling opportunities. Overall, this project shows how big data analytics and data visualization support data-driven business decisions and act as a basic foundation for intelligent recommendation systems in real-world retail applications</a:t>
            </a:r>
          </a:p>
          <a:p>
            <a:pPr marL="0" indent="0">
              <a:buNone/>
            </a:pP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41096-BD79-8031-FD5E-BBB09CEAB30D}"/>
              </a:ext>
            </a:extLst>
          </p:cNvPr>
          <p:cNvSpPr>
            <a:spLocks noGrp="1"/>
          </p:cNvSpPr>
          <p:nvPr>
            <p:ph type="ctrTitle"/>
          </p:nvPr>
        </p:nvSpPr>
        <p:spPr>
          <a:xfrm>
            <a:off x="1384539" y="442602"/>
            <a:ext cx="8991600" cy="1403451"/>
          </a:xfrm>
        </p:spPr>
        <p:txBody>
          <a:bodyPr/>
          <a:lstStyle/>
          <a:p>
            <a:r>
              <a:rPr lang="en-IN" dirty="0"/>
              <a:t>Introduction</a:t>
            </a:r>
          </a:p>
        </p:txBody>
      </p:sp>
      <p:sp>
        <p:nvSpPr>
          <p:cNvPr id="3" name="Subtitle 2">
            <a:extLst>
              <a:ext uri="{FF2B5EF4-FFF2-40B4-BE49-F238E27FC236}">
                <a16:creationId xmlns:a16="http://schemas.microsoft.com/office/drawing/2014/main" id="{B7BCB5CD-F662-7491-D24A-0DACB0CFC041}"/>
              </a:ext>
            </a:extLst>
          </p:cNvPr>
          <p:cNvSpPr>
            <a:spLocks noGrp="1"/>
          </p:cNvSpPr>
          <p:nvPr>
            <p:ph type="subTitle" idx="1"/>
          </p:nvPr>
        </p:nvSpPr>
        <p:spPr>
          <a:xfrm>
            <a:off x="1384539" y="2476553"/>
            <a:ext cx="9056297" cy="3726931"/>
          </a:xfrm>
        </p:spPr>
        <p:txBody>
          <a:bodyPr>
            <a:normAutofit fontScale="92500" lnSpcReduction="20000"/>
          </a:bodyPr>
          <a:lstStyle/>
          <a:p>
            <a:pPr algn="l"/>
            <a:r>
              <a:rPr lang="en-IN" b="1" dirty="0">
                <a:solidFill>
                  <a:schemeClr val="bg1"/>
                </a:solidFill>
              </a:rPr>
              <a:t>• Background: Growth of digital retail &amp; big data</a:t>
            </a:r>
          </a:p>
          <a:p>
            <a:pPr algn="l"/>
            <a:endParaRPr lang="en-IN" b="1" dirty="0">
              <a:solidFill>
                <a:schemeClr val="bg1"/>
              </a:solidFill>
            </a:endParaRPr>
          </a:p>
          <a:p>
            <a:pPr algn="l"/>
            <a:r>
              <a:rPr lang="en-IN" b="1" dirty="0">
                <a:solidFill>
                  <a:schemeClr val="bg1"/>
                </a:solidFill>
              </a:rPr>
              <a:t>• Large volumes of transaction data generated daily</a:t>
            </a:r>
          </a:p>
          <a:p>
            <a:pPr algn="l"/>
            <a:endParaRPr lang="en-IN" b="1" dirty="0">
              <a:solidFill>
                <a:schemeClr val="bg1"/>
              </a:solidFill>
            </a:endParaRPr>
          </a:p>
          <a:p>
            <a:pPr algn="l"/>
            <a:r>
              <a:rPr lang="en-IN" b="1" dirty="0">
                <a:solidFill>
                  <a:schemeClr val="bg1"/>
                </a:solidFill>
              </a:rPr>
              <a:t>• Businesses need analytics for better decisions</a:t>
            </a:r>
          </a:p>
          <a:p>
            <a:pPr algn="l"/>
            <a:endParaRPr lang="en-IN" b="1" dirty="0">
              <a:solidFill>
                <a:schemeClr val="bg1"/>
              </a:solidFill>
            </a:endParaRPr>
          </a:p>
          <a:p>
            <a:pPr algn="l"/>
            <a:r>
              <a:rPr lang="en-IN" b="1" dirty="0">
                <a:solidFill>
                  <a:schemeClr val="bg1"/>
                </a:solidFill>
              </a:rPr>
              <a:t>• Problem: Raw data is not useful without analysis</a:t>
            </a:r>
          </a:p>
          <a:p>
            <a:pPr algn="l"/>
            <a:endParaRPr lang="en-IN" b="1" dirty="0">
              <a:solidFill>
                <a:schemeClr val="bg1"/>
              </a:solidFill>
            </a:endParaRPr>
          </a:p>
          <a:p>
            <a:pPr algn="l"/>
            <a:r>
              <a:rPr lang="en-IN" b="1" dirty="0">
                <a:solidFill>
                  <a:schemeClr val="bg1"/>
                </a:solidFill>
              </a:rPr>
              <a:t>• Application: Retail analytics &amp; intelligent</a:t>
            </a:r>
          </a:p>
          <a:p>
            <a:pPr algn="l"/>
            <a:r>
              <a:rPr lang="en-IN" b="1" dirty="0">
                <a:solidFill>
                  <a:schemeClr val="bg1"/>
                </a:solidFill>
              </a:rPr>
              <a:t>recommendations</a:t>
            </a:r>
            <a:endParaRPr lang="en-IN" sz="1600" dirty="0">
              <a:solidFill>
                <a:schemeClr val="bg1"/>
              </a:solidFill>
            </a:endParaRPr>
          </a:p>
        </p:txBody>
      </p:sp>
    </p:spTree>
    <p:extLst>
      <p:ext uri="{BB962C8B-B14F-4D97-AF65-F5344CB8AC3E}">
        <p14:creationId xmlns:p14="http://schemas.microsoft.com/office/powerpoint/2010/main" val="4164469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0245" y="493849"/>
            <a:ext cx="7551173" cy="912163"/>
          </a:xfrm>
        </p:spPr>
        <p:txBody>
          <a:bodyPr>
            <a:normAutofit/>
          </a:bodyPr>
          <a:lstStyle/>
          <a:p>
            <a:r>
              <a:rPr lang="en-US" dirty="0"/>
              <a:t>Existing system</a:t>
            </a:r>
            <a:endParaRPr lang="en-IN" dirty="0"/>
          </a:p>
        </p:txBody>
      </p:sp>
      <p:sp>
        <p:nvSpPr>
          <p:cNvPr id="5" name="Subtitle 4"/>
          <p:cNvSpPr>
            <a:spLocks noGrp="1"/>
          </p:cNvSpPr>
          <p:nvPr>
            <p:ph type="subTitle" idx="1"/>
          </p:nvPr>
        </p:nvSpPr>
        <p:spPr>
          <a:xfrm>
            <a:off x="373627" y="1887795"/>
            <a:ext cx="5584722" cy="4139379"/>
          </a:xfrm>
        </p:spPr>
        <p:txBody>
          <a:bodyPr>
            <a:normAutofit fontScale="92500" lnSpcReduction="10000"/>
          </a:bodyPr>
          <a:lstStyle/>
          <a:p>
            <a:r>
              <a:rPr lang="en-IN" dirty="0">
                <a:solidFill>
                  <a:schemeClr val="bg1"/>
                </a:solidFill>
              </a:rPr>
              <a:t>In many traditional shopping platforms:</a:t>
            </a:r>
          </a:p>
          <a:p>
            <a:r>
              <a:rPr lang="en-IN" dirty="0">
                <a:solidFill>
                  <a:schemeClr val="bg1"/>
                </a:solidFill>
              </a:rPr>
              <a:t>Recommendations are </a:t>
            </a:r>
            <a:r>
              <a:rPr lang="en-IN" b="1" dirty="0">
                <a:solidFill>
                  <a:schemeClr val="bg1"/>
                </a:solidFill>
              </a:rPr>
              <a:t>manual or based only on simple filters</a:t>
            </a:r>
            <a:endParaRPr lang="en-IN" dirty="0">
              <a:solidFill>
                <a:schemeClr val="bg1"/>
              </a:solidFill>
            </a:endParaRPr>
          </a:p>
          <a:p>
            <a:r>
              <a:rPr lang="en-IN" dirty="0">
                <a:solidFill>
                  <a:schemeClr val="bg1"/>
                </a:solidFill>
              </a:rPr>
              <a:t>Systems </a:t>
            </a:r>
            <a:r>
              <a:rPr lang="en-IN" b="1" dirty="0">
                <a:solidFill>
                  <a:schemeClr val="bg1"/>
                </a:solidFill>
              </a:rPr>
              <a:t>do not deeply </a:t>
            </a:r>
            <a:r>
              <a:rPr lang="en-IN" b="1" dirty="0" err="1">
                <a:solidFill>
                  <a:schemeClr val="bg1"/>
                </a:solidFill>
              </a:rPr>
              <a:t>analyze</a:t>
            </a:r>
            <a:r>
              <a:rPr lang="en-IN" b="1" dirty="0">
                <a:solidFill>
                  <a:schemeClr val="bg1"/>
                </a:solidFill>
              </a:rPr>
              <a:t> customer </a:t>
            </a:r>
            <a:r>
              <a:rPr lang="en-IN" b="1" dirty="0" err="1">
                <a:solidFill>
                  <a:schemeClr val="bg1"/>
                </a:solidFill>
              </a:rPr>
              <a:t>behavior</a:t>
            </a:r>
            <a:endParaRPr lang="en-IN" dirty="0">
              <a:solidFill>
                <a:schemeClr val="bg1"/>
              </a:solidFill>
            </a:endParaRPr>
          </a:p>
          <a:p>
            <a:r>
              <a:rPr lang="en-IN" dirty="0">
                <a:solidFill>
                  <a:schemeClr val="bg1"/>
                </a:solidFill>
              </a:rPr>
              <a:t>Customers must </a:t>
            </a:r>
            <a:r>
              <a:rPr lang="en-IN" b="1" dirty="0">
                <a:solidFill>
                  <a:schemeClr val="bg1"/>
                </a:solidFill>
              </a:rPr>
              <a:t>search products manually</a:t>
            </a:r>
            <a:endParaRPr lang="en-IN" dirty="0">
              <a:solidFill>
                <a:schemeClr val="bg1"/>
              </a:solidFill>
            </a:endParaRPr>
          </a:p>
          <a:p>
            <a:r>
              <a:rPr lang="en-IN" dirty="0">
                <a:solidFill>
                  <a:schemeClr val="bg1"/>
                </a:solidFill>
              </a:rPr>
              <a:t>Personalization is very limited</a:t>
            </a:r>
          </a:p>
          <a:p>
            <a:br>
              <a:rPr lang="en-IN" dirty="0">
                <a:solidFill>
                  <a:schemeClr val="bg1"/>
                </a:solidFill>
              </a:rPr>
            </a:br>
            <a:endParaRPr lang="en-IN" dirty="0">
              <a:solidFill>
                <a:schemeClr val="bg1"/>
              </a:solidFill>
            </a:endParaRPr>
          </a:p>
          <a:p>
            <a:r>
              <a:rPr lang="en-IN" dirty="0">
                <a:solidFill>
                  <a:schemeClr val="bg1"/>
                </a:solidFill>
              </a:rPr>
              <a:t>Example: Basic recommendation like </a:t>
            </a:r>
            <a:r>
              <a:rPr lang="en-IN" i="1" dirty="0">
                <a:solidFill>
                  <a:schemeClr val="bg1"/>
                </a:solidFill>
              </a:rPr>
              <a:t>“Top Selling Products”</a:t>
            </a:r>
            <a:r>
              <a:rPr lang="en-IN" dirty="0">
                <a:solidFill>
                  <a:schemeClr val="bg1"/>
                </a:solidFill>
              </a:rPr>
              <a:t> or </a:t>
            </a:r>
            <a:r>
              <a:rPr lang="en-IN" i="1" dirty="0">
                <a:solidFill>
                  <a:schemeClr val="bg1"/>
                </a:solidFill>
              </a:rPr>
              <a:t>“Popular Items”</a:t>
            </a:r>
            <a:r>
              <a:rPr lang="en-IN" dirty="0">
                <a:solidFill>
                  <a:schemeClr val="bg1"/>
                </a:solidFill>
              </a:rPr>
              <a:t> without </a:t>
            </a:r>
            <a:r>
              <a:rPr lang="en-IN" dirty="0" err="1">
                <a:solidFill>
                  <a:schemeClr val="bg1"/>
                </a:solidFill>
              </a:rPr>
              <a:t>analyzing</a:t>
            </a:r>
            <a:r>
              <a:rPr lang="en-IN" dirty="0">
                <a:solidFill>
                  <a:schemeClr val="bg1"/>
                </a:solidFill>
              </a:rPr>
              <a:t> individual customer preferences.</a:t>
            </a:r>
          </a:p>
        </p:txBody>
      </p:sp>
      <p:pic>
        <p:nvPicPr>
          <p:cNvPr id="4" name="Picture 3" descr="A diagram of a customer purchase system&#10;&#10;AI-generated content may be incorrect.">
            <a:extLst>
              <a:ext uri="{FF2B5EF4-FFF2-40B4-BE49-F238E27FC236}">
                <a16:creationId xmlns:a16="http://schemas.microsoft.com/office/drawing/2014/main" id="{B9D799C6-7361-35DF-D1F9-B4EBB9306DB1}"/>
              </a:ext>
            </a:extLst>
          </p:cNvPr>
          <p:cNvPicPr>
            <a:picLocks noChangeAspect="1"/>
          </p:cNvPicPr>
          <p:nvPr/>
        </p:nvPicPr>
        <p:blipFill>
          <a:blip r:embed="rId2"/>
          <a:stretch>
            <a:fillRect/>
          </a:stretch>
        </p:blipFill>
        <p:spPr>
          <a:xfrm>
            <a:off x="6096000" y="1820789"/>
            <a:ext cx="5855368" cy="454336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E4E86-3711-92D3-C228-F7B51ED7B5C5}"/>
              </a:ext>
            </a:extLst>
          </p:cNvPr>
          <p:cNvSpPr>
            <a:spLocks noGrp="1"/>
          </p:cNvSpPr>
          <p:nvPr>
            <p:ph type="ctrTitle"/>
          </p:nvPr>
        </p:nvSpPr>
        <p:spPr>
          <a:xfrm>
            <a:off x="1306902" y="540691"/>
            <a:ext cx="8991600" cy="1305362"/>
          </a:xfrm>
        </p:spPr>
        <p:txBody>
          <a:bodyPr/>
          <a:lstStyle/>
          <a:p>
            <a:r>
              <a:rPr lang="en-IN" dirty="0"/>
              <a:t>Proposed system</a:t>
            </a:r>
          </a:p>
        </p:txBody>
      </p:sp>
      <p:sp>
        <p:nvSpPr>
          <p:cNvPr id="3" name="Subtitle 2">
            <a:extLst>
              <a:ext uri="{FF2B5EF4-FFF2-40B4-BE49-F238E27FC236}">
                <a16:creationId xmlns:a16="http://schemas.microsoft.com/office/drawing/2014/main" id="{E67D7107-F2E8-EF39-BF89-908B6F1E7C48}"/>
              </a:ext>
            </a:extLst>
          </p:cNvPr>
          <p:cNvSpPr>
            <a:spLocks noGrp="1"/>
          </p:cNvSpPr>
          <p:nvPr>
            <p:ph type="subTitle" idx="1"/>
          </p:nvPr>
        </p:nvSpPr>
        <p:spPr>
          <a:xfrm>
            <a:off x="1117599" y="2133600"/>
            <a:ext cx="9050867" cy="3911600"/>
          </a:xfrm>
        </p:spPr>
        <p:txBody>
          <a:bodyPr>
            <a:normAutofit fontScale="32500" lnSpcReduction="20000"/>
          </a:bodyPr>
          <a:lstStyle/>
          <a:p>
            <a:r>
              <a:rPr lang="en-IN" sz="4400" dirty="0">
                <a:solidFill>
                  <a:schemeClr val="bg1"/>
                </a:solidFill>
              </a:rPr>
              <a:t>Our goal is to build a </a:t>
            </a:r>
            <a:r>
              <a:rPr lang="en-IN" sz="4400" b="1" dirty="0">
                <a:solidFill>
                  <a:schemeClr val="bg1"/>
                </a:solidFill>
              </a:rPr>
              <a:t>smart and efficient recommendation system</a:t>
            </a:r>
            <a:r>
              <a:rPr lang="en-IN" sz="4400" dirty="0">
                <a:solidFill>
                  <a:schemeClr val="bg1"/>
                </a:solidFill>
              </a:rPr>
              <a:t> that </a:t>
            </a:r>
            <a:r>
              <a:rPr lang="en-IN" sz="4400" dirty="0" err="1">
                <a:solidFill>
                  <a:schemeClr val="bg1"/>
                </a:solidFill>
              </a:rPr>
              <a:t>analyzes</a:t>
            </a:r>
            <a:r>
              <a:rPr lang="en-IN" sz="4400" dirty="0">
                <a:solidFill>
                  <a:schemeClr val="bg1"/>
                </a:solidFill>
              </a:rPr>
              <a:t> customer purchase </a:t>
            </a:r>
            <a:r>
              <a:rPr lang="en-IN" sz="4400" dirty="0" err="1">
                <a:solidFill>
                  <a:schemeClr val="bg1"/>
                </a:solidFill>
              </a:rPr>
              <a:t>behavior</a:t>
            </a:r>
            <a:r>
              <a:rPr lang="en-IN" sz="4400" dirty="0">
                <a:solidFill>
                  <a:schemeClr val="bg1"/>
                </a:solidFill>
              </a:rPr>
              <a:t> and suggests relevant products automatically. The system uses techniques from </a:t>
            </a:r>
            <a:r>
              <a:rPr lang="en-IN" sz="4400" b="1" dirty="0">
                <a:solidFill>
                  <a:schemeClr val="bg1"/>
                </a:solidFill>
                <a:hlinkClick r:id="rId2">
                  <a:extLst>
                    <a:ext uri="{A12FA001-AC4F-418D-AE19-62706E023703}">
                      <ahyp:hlinkClr xmlns:ahyp="http://schemas.microsoft.com/office/drawing/2018/hyperlinkcolor" val="tx"/>
                    </a:ext>
                  </a:extLst>
                </a:hlinkClick>
              </a:rPr>
              <a:t>Machine Learning</a:t>
            </a:r>
            <a:r>
              <a:rPr lang="en-IN" sz="4400" dirty="0">
                <a:solidFill>
                  <a:schemeClr val="bg1"/>
                </a:solidFill>
              </a:rPr>
              <a:t> and </a:t>
            </a:r>
            <a:r>
              <a:rPr lang="en-IN" sz="4400" b="1" dirty="0">
                <a:solidFill>
                  <a:schemeClr val="bg1"/>
                </a:solidFill>
                <a:hlinkClick r:id="rId3">
                  <a:extLst>
                    <a:ext uri="{A12FA001-AC4F-418D-AE19-62706E023703}">
                      <ahyp:hlinkClr xmlns:ahyp="http://schemas.microsoft.com/office/drawing/2018/hyperlinkcolor" val="tx"/>
                    </a:ext>
                  </a:extLst>
                </a:hlinkClick>
              </a:rPr>
              <a:t>Data Analytics</a:t>
            </a:r>
            <a:r>
              <a:rPr lang="en-IN" sz="4400" dirty="0">
                <a:solidFill>
                  <a:schemeClr val="bg1"/>
                </a:solidFill>
              </a:rPr>
              <a:t> to provide personalized recommendations to users.</a:t>
            </a:r>
          </a:p>
          <a:p>
            <a:r>
              <a:rPr lang="en-IN" sz="4400" dirty="0">
                <a:solidFill>
                  <a:schemeClr val="bg1"/>
                </a:solidFill>
              </a:rPr>
              <a:t>The main purpose of this system is to </a:t>
            </a:r>
            <a:r>
              <a:rPr lang="en-IN" sz="4400" b="1" dirty="0">
                <a:solidFill>
                  <a:schemeClr val="bg1"/>
                </a:solidFill>
              </a:rPr>
              <a:t>continuously </a:t>
            </a:r>
            <a:r>
              <a:rPr lang="en-IN" sz="4400" b="1" dirty="0" err="1">
                <a:solidFill>
                  <a:schemeClr val="bg1"/>
                </a:solidFill>
              </a:rPr>
              <a:t>analyze</a:t>
            </a:r>
            <a:r>
              <a:rPr lang="en-IN" sz="4400" b="1" dirty="0">
                <a:solidFill>
                  <a:schemeClr val="bg1"/>
                </a:solidFill>
              </a:rPr>
              <a:t> customer purchase data and identify buying patterns</a:t>
            </a:r>
            <a:r>
              <a:rPr lang="en-IN" sz="4400" dirty="0">
                <a:solidFill>
                  <a:schemeClr val="bg1"/>
                </a:solidFill>
              </a:rPr>
              <a:t> in order to recommend products that match customer interests.</a:t>
            </a:r>
          </a:p>
          <a:p>
            <a:r>
              <a:rPr lang="en-IN" sz="4400" dirty="0">
                <a:solidFill>
                  <a:schemeClr val="bg1"/>
                </a:solidFill>
              </a:rPr>
              <a:t>We use </a:t>
            </a:r>
            <a:r>
              <a:rPr lang="en-IN" sz="4400" b="1" dirty="0">
                <a:solidFill>
                  <a:schemeClr val="bg1"/>
                </a:solidFill>
              </a:rPr>
              <a:t>data analytics and recommendation algorithms</a:t>
            </a:r>
            <a:r>
              <a:rPr lang="en-IN" sz="4400" dirty="0">
                <a:solidFill>
                  <a:schemeClr val="bg1"/>
                </a:solidFill>
              </a:rPr>
              <a:t> to automate the process of product suggestion and customer </a:t>
            </a:r>
            <a:r>
              <a:rPr lang="en-IN" sz="4400" dirty="0" err="1">
                <a:solidFill>
                  <a:schemeClr val="bg1"/>
                </a:solidFill>
              </a:rPr>
              <a:t>behavior</a:t>
            </a:r>
            <a:r>
              <a:rPr lang="en-IN" sz="4400" dirty="0">
                <a:solidFill>
                  <a:schemeClr val="bg1"/>
                </a:solidFill>
              </a:rPr>
              <a:t> analysis. The system collects purchase history, processes the data, and generates recommendations based on patterns and similarities among customers.</a:t>
            </a:r>
          </a:p>
          <a:p>
            <a:br>
              <a:rPr lang="en-IN" sz="4400" dirty="0">
                <a:solidFill>
                  <a:schemeClr val="bg1"/>
                </a:solidFill>
              </a:rPr>
            </a:br>
            <a:r>
              <a:rPr lang="en-IN" sz="4400" dirty="0">
                <a:solidFill>
                  <a:schemeClr val="bg1"/>
                </a:solidFill>
              </a:rPr>
              <a:t>The trained recommendation model can be integrated into an online shopping platform and deployed using modern development frameworks such as </a:t>
            </a:r>
            <a:r>
              <a:rPr lang="en-IN" sz="4400" b="1" dirty="0">
                <a:solidFill>
                  <a:schemeClr val="bg1"/>
                </a:solidFill>
                <a:hlinkClick r:id="rId4">
                  <a:extLst>
                    <a:ext uri="{A12FA001-AC4F-418D-AE19-62706E023703}">
                      <ahyp:hlinkClr xmlns:ahyp="http://schemas.microsoft.com/office/drawing/2018/hyperlinkcolor" val="tx"/>
                    </a:ext>
                  </a:extLst>
                </a:hlinkClick>
              </a:rPr>
              <a:t>Flask</a:t>
            </a:r>
            <a:r>
              <a:rPr lang="en-IN" sz="4400" dirty="0">
                <a:solidFill>
                  <a:schemeClr val="bg1"/>
                </a:solidFill>
              </a:rPr>
              <a:t> or </a:t>
            </a:r>
            <a:r>
              <a:rPr lang="en-IN" sz="4400" b="1" dirty="0">
                <a:solidFill>
                  <a:schemeClr val="bg1"/>
                </a:solidFill>
                <a:hlinkClick r:id="rId5">
                  <a:extLst>
                    <a:ext uri="{A12FA001-AC4F-418D-AE19-62706E023703}">
                      <ahyp:hlinkClr xmlns:ahyp="http://schemas.microsoft.com/office/drawing/2018/hyperlinkcolor" val="tx"/>
                    </a:ext>
                  </a:extLst>
                </a:hlinkClick>
              </a:rPr>
              <a:t>Django</a:t>
            </a:r>
            <a:r>
              <a:rPr lang="en-IN" sz="4400" dirty="0">
                <a:solidFill>
                  <a:schemeClr val="bg1"/>
                </a:solidFill>
              </a:rPr>
              <a:t>.</a:t>
            </a:r>
          </a:p>
          <a:p>
            <a:r>
              <a:rPr lang="en-IN" sz="4400" dirty="0">
                <a:solidFill>
                  <a:schemeClr val="bg1"/>
                </a:solidFill>
              </a:rPr>
              <a:t>This recommendation system helps businesses </a:t>
            </a:r>
            <a:r>
              <a:rPr lang="en-IN" sz="4400" b="1" dirty="0">
                <a:solidFill>
                  <a:schemeClr val="bg1"/>
                </a:solidFill>
              </a:rPr>
              <a:t>improve product discovery, increase sales, and enhance customer satisfaction</a:t>
            </a:r>
            <a:r>
              <a:rPr lang="en-IN" sz="4400" dirty="0">
                <a:solidFill>
                  <a:schemeClr val="bg1"/>
                </a:solidFill>
              </a:rPr>
              <a:t>. It also reduces manual effort in </a:t>
            </a:r>
            <a:r>
              <a:rPr lang="en-IN" sz="4400" dirty="0" err="1">
                <a:solidFill>
                  <a:schemeClr val="bg1"/>
                </a:solidFill>
              </a:rPr>
              <a:t>analyzing</a:t>
            </a:r>
            <a:r>
              <a:rPr lang="en-IN" sz="4400" dirty="0">
                <a:solidFill>
                  <a:schemeClr val="bg1"/>
                </a:solidFill>
              </a:rPr>
              <a:t> customer data and makes the decision-making process more efficient.</a:t>
            </a:r>
          </a:p>
          <a:p>
            <a:r>
              <a:rPr lang="en-IN" sz="4400" dirty="0">
                <a:solidFill>
                  <a:schemeClr val="bg1"/>
                </a:solidFill>
              </a:rPr>
              <a:t>The solution helps the system quickly adapt to </a:t>
            </a:r>
            <a:r>
              <a:rPr lang="en-IN" sz="4400" b="1" dirty="0">
                <a:solidFill>
                  <a:schemeClr val="bg1"/>
                </a:solidFill>
              </a:rPr>
              <a:t>changes in customer preferences and purchasing trends</a:t>
            </a:r>
            <a:r>
              <a:rPr lang="en-IN" sz="4400" dirty="0">
                <a:solidFill>
                  <a:schemeClr val="bg1"/>
                </a:solidFill>
              </a:rPr>
              <a:t>, ensuring that the recommendations remain relevant and useful.</a:t>
            </a:r>
          </a:p>
          <a:p>
            <a:endParaRPr lang="en-IN" dirty="0">
              <a:solidFill>
                <a:schemeClr val="bg1"/>
              </a:solidFill>
            </a:endParaRPr>
          </a:p>
          <a:p>
            <a:endParaRPr lang="en-IN" dirty="0">
              <a:solidFill>
                <a:schemeClr val="bg1"/>
              </a:solidFill>
            </a:endParaRPr>
          </a:p>
        </p:txBody>
      </p:sp>
    </p:spTree>
    <p:extLst>
      <p:ext uri="{BB962C8B-B14F-4D97-AF65-F5344CB8AC3E}">
        <p14:creationId xmlns:p14="http://schemas.microsoft.com/office/powerpoint/2010/main" val="33211075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7F80C-B9DB-29BB-E52D-C17D80EB2337}"/>
              </a:ext>
            </a:extLst>
          </p:cNvPr>
          <p:cNvSpPr>
            <a:spLocks noGrp="1"/>
          </p:cNvSpPr>
          <p:nvPr>
            <p:ph type="ctrTitle"/>
          </p:nvPr>
        </p:nvSpPr>
        <p:spPr>
          <a:xfrm>
            <a:off x="1600200" y="416378"/>
            <a:ext cx="8991600" cy="1239894"/>
          </a:xfrm>
        </p:spPr>
        <p:txBody>
          <a:bodyPr/>
          <a:lstStyle/>
          <a:p>
            <a:r>
              <a:rPr lang="en-IN" dirty="0"/>
              <a:t>Objectives</a:t>
            </a:r>
          </a:p>
        </p:txBody>
      </p:sp>
      <p:sp>
        <p:nvSpPr>
          <p:cNvPr id="3" name="Subtitle 2">
            <a:extLst>
              <a:ext uri="{FF2B5EF4-FFF2-40B4-BE49-F238E27FC236}">
                <a16:creationId xmlns:a16="http://schemas.microsoft.com/office/drawing/2014/main" id="{C06C8BEA-80A6-F443-CAA6-C2DB3E6274CB}"/>
              </a:ext>
            </a:extLst>
          </p:cNvPr>
          <p:cNvSpPr>
            <a:spLocks noGrp="1"/>
          </p:cNvSpPr>
          <p:nvPr>
            <p:ph type="subTitle" idx="1"/>
          </p:nvPr>
        </p:nvSpPr>
        <p:spPr>
          <a:xfrm>
            <a:off x="1600200" y="2358189"/>
            <a:ext cx="8991600" cy="2878114"/>
          </a:xfrm>
        </p:spPr>
        <p:txBody>
          <a:bodyPr>
            <a:normAutofit fontScale="92500" lnSpcReduction="10000"/>
          </a:bodyPr>
          <a:lstStyle/>
          <a:p>
            <a:pPr algn="l"/>
            <a:r>
              <a:rPr lang="en-IN" sz="2800" dirty="0">
                <a:solidFill>
                  <a:schemeClr val="bg1"/>
                </a:solidFill>
              </a:rPr>
              <a:t>The main goals of the project are:</a:t>
            </a:r>
          </a:p>
          <a:p>
            <a:pPr marL="457200" indent="-457200" algn="l">
              <a:buFont typeface="Arial" panose="020B0604020202020204" pitchFamily="34" charset="0"/>
              <a:buChar char="•"/>
            </a:pPr>
            <a:r>
              <a:rPr lang="en-IN" sz="2800" dirty="0" err="1">
                <a:solidFill>
                  <a:schemeClr val="bg1"/>
                </a:solidFill>
              </a:rPr>
              <a:t>Analyze</a:t>
            </a:r>
            <a:r>
              <a:rPr lang="en-IN" sz="2800" dirty="0">
                <a:solidFill>
                  <a:schemeClr val="bg1"/>
                </a:solidFill>
              </a:rPr>
              <a:t> customer purchase history</a:t>
            </a:r>
          </a:p>
          <a:p>
            <a:pPr algn="l"/>
            <a:r>
              <a:rPr lang="en-IN" sz="2800" dirty="0">
                <a:solidFill>
                  <a:schemeClr val="bg1"/>
                </a:solidFill>
              </a:rPr>
              <a:t>     Identify buying patterns</a:t>
            </a:r>
          </a:p>
          <a:p>
            <a:pPr algn="l"/>
            <a:r>
              <a:rPr lang="en-IN" sz="2800" dirty="0">
                <a:solidFill>
                  <a:schemeClr val="bg1"/>
                </a:solidFill>
              </a:rPr>
              <a:t>     Predict future purchases</a:t>
            </a:r>
          </a:p>
          <a:p>
            <a:pPr algn="l"/>
            <a:r>
              <a:rPr lang="en-IN" sz="2800" dirty="0">
                <a:solidFill>
                  <a:schemeClr val="bg1"/>
                </a:solidFill>
              </a:rPr>
              <a:t>     Recommend relevant products</a:t>
            </a:r>
          </a:p>
          <a:p>
            <a:pPr algn="l"/>
            <a:r>
              <a:rPr lang="en-IN" sz="2800" dirty="0">
                <a:solidFill>
                  <a:schemeClr val="bg1"/>
                </a:solidFill>
              </a:rPr>
              <a:t>     Improve customer satisfaction and increase sales</a:t>
            </a:r>
          </a:p>
        </p:txBody>
      </p:sp>
    </p:spTree>
    <p:extLst>
      <p:ext uri="{BB962C8B-B14F-4D97-AF65-F5344CB8AC3E}">
        <p14:creationId xmlns:p14="http://schemas.microsoft.com/office/powerpoint/2010/main" val="2071131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5161B-F867-2E5A-880D-35118E6E95E7}"/>
              </a:ext>
            </a:extLst>
          </p:cNvPr>
          <p:cNvSpPr>
            <a:spLocks noGrp="1"/>
          </p:cNvSpPr>
          <p:nvPr>
            <p:ph type="ctrTitle"/>
          </p:nvPr>
        </p:nvSpPr>
        <p:spPr>
          <a:xfrm>
            <a:off x="1600200" y="405441"/>
            <a:ext cx="8991600" cy="1239893"/>
          </a:xfrm>
        </p:spPr>
        <p:txBody>
          <a:bodyPr/>
          <a:lstStyle/>
          <a:p>
            <a:r>
              <a:rPr lang="en-IN" dirty="0"/>
              <a:t>Software requirements</a:t>
            </a:r>
          </a:p>
        </p:txBody>
      </p:sp>
      <p:sp>
        <p:nvSpPr>
          <p:cNvPr id="3" name="Subtitle 2">
            <a:extLst>
              <a:ext uri="{FF2B5EF4-FFF2-40B4-BE49-F238E27FC236}">
                <a16:creationId xmlns:a16="http://schemas.microsoft.com/office/drawing/2014/main" id="{C39A5226-01E7-E749-7996-917821C583B7}"/>
              </a:ext>
            </a:extLst>
          </p:cNvPr>
          <p:cNvSpPr>
            <a:spLocks noGrp="1"/>
          </p:cNvSpPr>
          <p:nvPr>
            <p:ph type="subTitle" idx="1"/>
          </p:nvPr>
        </p:nvSpPr>
        <p:spPr>
          <a:xfrm>
            <a:off x="1600200" y="2329314"/>
            <a:ext cx="8991600" cy="3715351"/>
          </a:xfrm>
        </p:spPr>
        <p:txBody>
          <a:bodyPr>
            <a:normAutofit fontScale="62500" lnSpcReduction="20000"/>
          </a:bodyPr>
          <a:lstStyle/>
          <a:p>
            <a:pPr algn="l"/>
            <a:r>
              <a:rPr lang="en-US" sz="4500" dirty="0">
                <a:solidFill>
                  <a:schemeClr val="bg1"/>
                </a:solidFill>
              </a:rPr>
              <a:t>Below are the software requirements for application development:</a:t>
            </a:r>
          </a:p>
          <a:p>
            <a:pPr marL="457200" indent="-457200" algn="l">
              <a:buAutoNum type="arabicPeriod"/>
            </a:pPr>
            <a:r>
              <a:rPr lang="en-US" sz="3400" dirty="0">
                <a:solidFill>
                  <a:schemeClr val="bg1"/>
                </a:solidFill>
              </a:rPr>
              <a:t>1.     Python IDE(</a:t>
            </a:r>
            <a:r>
              <a:rPr lang="en-US" sz="3400" dirty="0" err="1">
                <a:solidFill>
                  <a:schemeClr val="bg1"/>
                </a:solidFill>
              </a:rPr>
              <a:t>VSCode</a:t>
            </a:r>
            <a:r>
              <a:rPr lang="en-US" sz="3400" dirty="0">
                <a:solidFill>
                  <a:schemeClr val="bg1"/>
                </a:solidFill>
              </a:rPr>
              <a:t>)</a:t>
            </a:r>
          </a:p>
          <a:p>
            <a:pPr marL="457200" indent="-457200" algn="l">
              <a:buAutoNum type="arabicPeriod"/>
            </a:pPr>
            <a:r>
              <a:rPr lang="en-US" sz="3400" dirty="0">
                <a:solidFill>
                  <a:schemeClr val="bg1"/>
                </a:solidFill>
              </a:rPr>
              <a:t>2.	MySQL</a:t>
            </a:r>
          </a:p>
          <a:p>
            <a:pPr marL="457200" indent="-457200" algn="l">
              <a:buAutoNum type="arabicPeriod"/>
            </a:pPr>
            <a:r>
              <a:rPr lang="en-US" sz="3400" dirty="0">
                <a:solidFill>
                  <a:schemeClr val="bg1"/>
                </a:solidFill>
              </a:rPr>
              <a:t>3.	GitHub</a:t>
            </a:r>
          </a:p>
          <a:p>
            <a:pPr marL="457200" indent="-457200" algn="l">
              <a:buAutoNum type="arabicPeriod"/>
            </a:pPr>
            <a:r>
              <a:rPr lang="en-US" sz="3400" dirty="0">
                <a:solidFill>
                  <a:schemeClr val="bg1"/>
                </a:solidFill>
              </a:rPr>
              <a:t>4.	Flask</a:t>
            </a:r>
          </a:p>
          <a:p>
            <a:pPr marL="457200" indent="-457200" algn="l">
              <a:buAutoNum type="arabicPeriod"/>
            </a:pPr>
            <a:r>
              <a:rPr lang="en-US" sz="3400" dirty="0">
                <a:solidFill>
                  <a:schemeClr val="bg1"/>
                </a:solidFill>
              </a:rPr>
              <a:t>5.	</a:t>
            </a:r>
            <a:r>
              <a:rPr lang="en-US" sz="3400" dirty="0" err="1">
                <a:solidFill>
                  <a:schemeClr val="bg1"/>
                </a:solidFill>
              </a:rPr>
              <a:t>PostMan</a:t>
            </a:r>
            <a:endParaRPr lang="en-US" sz="3400" dirty="0">
              <a:solidFill>
                <a:schemeClr val="bg1"/>
              </a:solidFill>
            </a:endParaRPr>
          </a:p>
          <a:p>
            <a:pPr marL="457200" indent="-457200" algn="l">
              <a:buAutoNum type="arabicPeriod"/>
            </a:pPr>
            <a:r>
              <a:rPr lang="en-US" sz="3400" dirty="0">
                <a:solidFill>
                  <a:schemeClr val="bg1"/>
                </a:solidFill>
              </a:rPr>
              <a:t>6.	AWS</a:t>
            </a:r>
          </a:p>
          <a:p>
            <a:pPr marL="457200" indent="-457200" algn="l">
              <a:buAutoNum type="arabicPeriod"/>
            </a:pPr>
            <a:r>
              <a:rPr lang="en-US" sz="3400" dirty="0">
                <a:solidFill>
                  <a:schemeClr val="bg1"/>
                </a:solidFill>
              </a:rPr>
              <a:t>7.	Google Chrome</a:t>
            </a:r>
            <a:endParaRPr lang="en-IN" sz="3400" dirty="0">
              <a:solidFill>
                <a:schemeClr val="bg1"/>
              </a:solidFill>
            </a:endParaRPr>
          </a:p>
        </p:txBody>
      </p:sp>
    </p:spTree>
    <p:extLst>
      <p:ext uri="{BB962C8B-B14F-4D97-AF65-F5344CB8AC3E}">
        <p14:creationId xmlns:p14="http://schemas.microsoft.com/office/powerpoint/2010/main" val="1618906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00DDD-652B-7175-744D-D2990D9C81D1}"/>
              </a:ext>
            </a:extLst>
          </p:cNvPr>
          <p:cNvSpPr>
            <a:spLocks noGrp="1"/>
          </p:cNvSpPr>
          <p:nvPr>
            <p:ph type="ctrTitle"/>
          </p:nvPr>
        </p:nvSpPr>
        <p:spPr>
          <a:xfrm>
            <a:off x="1600200" y="474454"/>
            <a:ext cx="8991600" cy="1147312"/>
          </a:xfrm>
        </p:spPr>
        <p:txBody>
          <a:bodyPr/>
          <a:lstStyle/>
          <a:p>
            <a:r>
              <a:rPr lang="en-IN" dirty="0"/>
              <a:t>Hardware requirements</a:t>
            </a:r>
          </a:p>
        </p:txBody>
      </p:sp>
      <p:sp>
        <p:nvSpPr>
          <p:cNvPr id="3" name="Subtitle 2">
            <a:extLst>
              <a:ext uri="{FF2B5EF4-FFF2-40B4-BE49-F238E27FC236}">
                <a16:creationId xmlns:a16="http://schemas.microsoft.com/office/drawing/2014/main" id="{503926B3-A3FC-7687-9DEF-38613303658D}"/>
              </a:ext>
            </a:extLst>
          </p:cNvPr>
          <p:cNvSpPr>
            <a:spLocks noGrp="1"/>
          </p:cNvSpPr>
          <p:nvPr>
            <p:ph type="subTitle" idx="1"/>
          </p:nvPr>
        </p:nvSpPr>
        <p:spPr>
          <a:xfrm>
            <a:off x="1600200" y="2298299"/>
            <a:ext cx="8991599" cy="3255638"/>
          </a:xfrm>
        </p:spPr>
        <p:txBody>
          <a:bodyPr>
            <a:normAutofit fontScale="62500" lnSpcReduction="20000"/>
          </a:bodyPr>
          <a:lstStyle/>
          <a:p>
            <a:r>
              <a:rPr lang="en-IN" sz="2800" dirty="0">
                <a:solidFill>
                  <a:schemeClr val="bg1"/>
                </a:solidFill>
              </a:rPr>
              <a:t>The hardware requirements for developing and running the </a:t>
            </a:r>
            <a:r>
              <a:rPr lang="en-IN" sz="2800" b="1" dirty="0">
                <a:solidFill>
                  <a:schemeClr val="bg1"/>
                </a:solidFill>
              </a:rPr>
              <a:t>Smart Customer Purchase Analytics &amp; Recommendation System</a:t>
            </a:r>
            <a:r>
              <a:rPr lang="en-IN" sz="2800" dirty="0">
                <a:solidFill>
                  <a:schemeClr val="bg1"/>
                </a:solidFill>
              </a:rPr>
              <a:t> application are as follows:</a:t>
            </a:r>
          </a:p>
          <a:p>
            <a:endParaRPr lang="en-IN" sz="2800" dirty="0">
              <a:solidFill>
                <a:schemeClr val="bg1"/>
              </a:solidFill>
            </a:endParaRPr>
          </a:p>
          <a:p>
            <a:pPr algn="l"/>
            <a:r>
              <a:rPr lang="en-IN" sz="2800" b="1" dirty="0">
                <a:solidFill>
                  <a:schemeClr val="bg1"/>
                </a:solidFill>
              </a:rPr>
              <a:t>   CPU</a:t>
            </a:r>
            <a:r>
              <a:rPr lang="en-IN" sz="2800" dirty="0">
                <a:solidFill>
                  <a:schemeClr val="bg1"/>
                </a:solidFill>
              </a:rPr>
              <a:t> – Intel i3 processor or higher</a:t>
            </a:r>
          </a:p>
          <a:p>
            <a:pPr algn="l"/>
            <a:r>
              <a:rPr lang="en-IN" sz="2800" b="1" dirty="0">
                <a:solidFill>
                  <a:schemeClr val="bg1"/>
                </a:solidFill>
              </a:rPr>
              <a:t>   RAM</a:t>
            </a:r>
            <a:r>
              <a:rPr lang="en-IN" sz="2800" dirty="0">
                <a:solidFill>
                  <a:schemeClr val="bg1"/>
                </a:solidFill>
              </a:rPr>
              <a:t> – 4 GB or higher</a:t>
            </a:r>
          </a:p>
          <a:p>
            <a:pPr algn="l"/>
            <a:r>
              <a:rPr lang="en-IN" sz="2800" b="1" dirty="0">
                <a:solidFill>
                  <a:schemeClr val="bg1"/>
                </a:solidFill>
              </a:rPr>
              <a:t>   Storage</a:t>
            </a:r>
            <a:r>
              <a:rPr lang="en-IN" sz="2800" dirty="0">
                <a:solidFill>
                  <a:schemeClr val="bg1"/>
                </a:solidFill>
              </a:rPr>
              <a:t> – 20 GB or higher (to store datasets, application files, and system resources)</a:t>
            </a:r>
          </a:p>
          <a:p>
            <a:pPr algn="l"/>
            <a:r>
              <a:rPr lang="en-IN" sz="2800" b="1" dirty="0">
                <a:solidFill>
                  <a:schemeClr val="bg1"/>
                </a:solidFill>
              </a:rPr>
              <a:t>   Operating System</a:t>
            </a:r>
            <a:r>
              <a:rPr lang="en-IN" sz="2800" dirty="0">
                <a:solidFill>
                  <a:schemeClr val="bg1"/>
                </a:solidFill>
              </a:rPr>
              <a:t> – </a:t>
            </a:r>
            <a:r>
              <a:rPr lang="en-IN" sz="2800" b="1" dirty="0">
                <a:solidFill>
                  <a:schemeClr val="bg1"/>
                </a:solidFill>
              </a:rPr>
              <a:t>Windows 10</a:t>
            </a:r>
            <a:r>
              <a:rPr lang="en-IN" sz="2800" dirty="0">
                <a:solidFill>
                  <a:schemeClr val="bg1"/>
                </a:solidFill>
              </a:rPr>
              <a:t> or higher / macOS / Linux</a:t>
            </a:r>
          </a:p>
          <a:p>
            <a:pPr algn="l"/>
            <a:r>
              <a:rPr lang="en-IN" sz="2800" b="1" dirty="0">
                <a:solidFill>
                  <a:schemeClr val="bg1"/>
                </a:solidFill>
              </a:rPr>
              <a:t>   Internet Connection</a:t>
            </a:r>
            <a:r>
              <a:rPr lang="en-IN" sz="2800" dirty="0">
                <a:solidFill>
                  <a:schemeClr val="bg1"/>
                </a:solidFill>
              </a:rPr>
              <a:t> – Required for accessing cloud services, APIs, and database     </a:t>
            </a:r>
          </a:p>
          <a:p>
            <a:pPr algn="l"/>
            <a:r>
              <a:rPr lang="en-IN" sz="2800" b="1" dirty="0">
                <a:solidFill>
                  <a:schemeClr val="bg1"/>
                </a:solidFill>
              </a:rPr>
              <a:t>   Display</a:t>
            </a:r>
            <a:r>
              <a:rPr lang="en-IN" sz="2800" dirty="0">
                <a:solidFill>
                  <a:schemeClr val="bg1"/>
                </a:solidFill>
              </a:rPr>
              <a:t> – Standard monitor for application development and testing</a:t>
            </a:r>
          </a:p>
          <a:p>
            <a:pPr marL="457200" indent="-457200" algn="l">
              <a:buAutoNum type="arabicPeriod"/>
            </a:pPr>
            <a:endParaRPr lang="en-IN" sz="2400" dirty="0">
              <a:solidFill>
                <a:schemeClr val="bg1"/>
              </a:solidFill>
            </a:endParaRPr>
          </a:p>
        </p:txBody>
      </p:sp>
    </p:spTree>
    <p:extLst>
      <p:ext uri="{BB962C8B-B14F-4D97-AF65-F5344CB8AC3E}">
        <p14:creationId xmlns:p14="http://schemas.microsoft.com/office/powerpoint/2010/main" val="3408330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348239"/>
            <a:ext cx="8703733" cy="974116"/>
          </a:xfrm>
        </p:spPr>
        <p:txBody>
          <a:bodyPr>
            <a:noAutofit/>
          </a:bodyPr>
          <a:lstStyle/>
          <a:p>
            <a:r>
              <a:rPr lang="en-US" sz="2800" dirty="0">
                <a:latin typeface="Times New Roman" panose="02020603050405020304" pitchFamily="18" charset="0"/>
                <a:cs typeface="Times New Roman" panose="02020603050405020304" pitchFamily="18" charset="0"/>
              </a:rPr>
              <a:t>FUNCTIONAL  requirements</a:t>
            </a:r>
            <a:endParaRPr lang="en-IN" sz="2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9AD370F-66A5-D81F-C019-4E8D6007200A}"/>
              </a:ext>
            </a:extLst>
          </p:cNvPr>
          <p:cNvSpPr txBox="1"/>
          <p:nvPr/>
        </p:nvSpPr>
        <p:spPr>
          <a:xfrm>
            <a:off x="1371600" y="1867301"/>
            <a:ext cx="8703733" cy="4401205"/>
          </a:xfrm>
          <a:prstGeom prst="rect">
            <a:avLst/>
          </a:prstGeom>
          <a:noFill/>
        </p:spPr>
        <p:txBody>
          <a:bodyPr wrap="square">
            <a:spAutoFit/>
          </a:bodyPr>
          <a:lstStyle/>
          <a:p>
            <a:r>
              <a:rPr lang="en-IN" sz="2800" dirty="0">
                <a:solidFill>
                  <a:schemeClr val="bg1"/>
                </a:solidFill>
              </a:rPr>
              <a:t>User Registration and Login</a:t>
            </a:r>
          </a:p>
          <a:p>
            <a:r>
              <a:rPr lang="en-IN" sz="2800" dirty="0">
                <a:solidFill>
                  <a:schemeClr val="bg1"/>
                </a:solidFill>
              </a:rPr>
              <a:t>Product Browsing</a:t>
            </a:r>
          </a:p>
          <a:p>
            <a:r>
              <a:rPr lang="en-IN" sz="2800" dirty="0">
                <a:solidFill>
                  <a:schemeClr val="bg1"/>
                </a:solidFill>
              </a:rPr>
              <a:t>Customer Data Collection</a:t>
            </a:r>
          </a:p>
          <a:p>
            <a:r>
              <a:rPr lang="en-IN" sz="2800" dirty="0">
                <a:solidFill>
                  <a:schemeClr val="bg1"/>
                </a:solidFill>
              </a:rPr>
              <a:t>Purchase History Management</a:t>
            </a:r>
          </a:p>
          <a:p>
            <a:r>
              <a:rPr lang="en-IN" sz="2800" dirty="0">
                <a:solidFill>
                  <a:schemeClr val="bg1"/>
                </a:solidFill>
              </a:rPr>
              <a:t>Data Processing and Analysis</a:t>
            </a:r>
          </a:p>
          <a:p>
            <a:r>
              <a:rPr lang="en-IN" sz="2800" dirty="0">
                <a:solidFill>
                  <a:schemeClr val="bg1"/>
                </a:solidFill>
              </a:rPr>
              <a:t>Recommendation Generation</a:t>
            </a:r>
          </a:p>
          <a:p>
            <a:r>
              <a:rPr lang="en-IN" sz="2800" dirty="0">
                <a:solidFill>
                  <a:schemeClr val="bg1"/>
                </a:solidFill>
              </a:rPr>
              <a:t>Display Recommended Products</a:t>
            </a:r>
          </a:p>
          <a:p>
            <a:r>
              <a:rPr lang="en-IN" sz="2800" dirty="0">
                <a:solidFill>
                  <a:schemeClr val="bg1"/>
                </a:solidFill>
              </a:rPr>
              <a:t>Admin Management</a:t>
            </a:r>
          </a:p>
          <a:p>
            <a:r>
              <a:rPr lang="en-IN" sz="2800" dirty="0">
                <a:solidFill>
                  <a:schemeClr val="bg1"/>
                </a:solidFill>
              </a:rPr>
              <a:t>Database Management</a:t>
            </a:r>
          </a:p>
          <a:p>
            <a:r>
              <a:rPr lang="en-IN" sz="2800" dirty="0">
                <a:solidFill>
                  <a:schemeClr val="bg1"/>
                </a:solidFill>
              </a:rPr>
              <a:t>Report Generation</a:t>
            </a:r>
          </a:p>
        </p:txBody>
      </p:sp>
    </p:spTree>
    <p:extLst>
      <p:ext uri="{BB962C8B-B14F-4D97-AF65-F5344CB8AC3E}">
        <p14:creationId xmlns:p14="http://schemas.microsoft.com/office/powerpoint/2010/main" val="3412229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C7674-5984-2F59-F6CD-2D0A70C837A6}"/>
              </a:ext>
            </a:extLst>
          </p:cNvPr>
          <p:cNvSpPr>
            <a:spLocks noGrp="1"/>
          </p:cNvSpPr>
          <p:nvPr>
            <p:ph type="ctrTitle"/>
          </p:nvPr>
        </p:nvSpPr>
        <p:spPr>
          <a:xfrm>
            <a:off x="1600200" y="345058"/>
            <a:ext cx="8991600" cy="1052422"/>
          </a:xfrm>
        </p:spPr>
        <p:txBody>
          <a:bodyPr>
            <a:normAutofit fontScale="90000"/>
          </a:bodyPr>
          <a:lstStyle/>
          <a:p>
            <a:r>
              <a:rPr lang="en-IN" dirty="0"/>
              <a:t>Non - functional requirements</a:t>
            </a:r>
          </a:p>
        </p:txBody>
      </p:sp>
      <p:sp>
        <p:nvSpPr>
          <p:cNvPr id="3" name="Subtitle 2">
            <a:extLst>
              <a:ext uri="{FF2B5EF4-FFF2-40B4-BE49-F238E27FC236}">
                <a16:creationId xmlns:a16="http://schemas.microsoft.com/office/drawing/2014/main" id="{080C1CC3-9DB9-EE6E-134C-6FF56C1BFB53}"/>
              </a:ext>
            </a:extLst>
          </p:cNvPr>
          <p:cNvSpPr>
            <a:spLocks noGrp="1"/>
          </p:cNvSpPr>
          <p:nvPr>
            <p:ph type="subTitle" idx="1"/>
          </p:nvPr>
        </p:nvSpPr>
        <p:spPr>
          <a:xfrm>
            <a:off x="1328286" y="2290813"/>
            <a:ext cx="10241279" cy="3301625"/>
          </a:xfrm>
        </p:spPr>
        <p:txBody>
          <a:bodyPr>
            <a:normAutofit lnSpcReduction="10000"/>
          </a:bodyPr>
          <a:lstStyle/>
          <a:p>
            <a:pPr algn="l"/>
            <a:r>
              <a:rPr lang="en-IN" sz="2400" b="1" dirty="0">
                <a:solidFill>
                  <a:schemeClr val="bg1"/>
                </a:solidFill>
              </a:rPr>
              <a:t> Performance:-</a:t>
            </a:r>
            <a:r>
              <a:rPr lang="en-IN" sz="2400" dirty="0">
                <a:solidFill>
                  <a:schemeClr val="bg1"/>
                </a:solidFill>
              </a:rPr>
              <a:t>The system should process customer data and generate product recommendations quickly to provide a smooth user experience.</a:t>
            </a:r>
          </a:p>
          <a:p>
            <a:pPr algn="l"/>
            <a:r>
              <a:rPr lang="en-IN" sz="2400" b="1" dirty="0">
                <a:solidFill>
                  <a:schemeClr val="bg1"/>
                </a:solidFill>
              </a:rPr>
              <a:t> Scalability:-</a:t>
            </a:r>
            <a:r>
              <a:rPr lang="en-IN" sz="2400" dirty="0">
                <a:solidFill>
                  <a:schemeClr val="bg1"/>
                </a:solidFill>
              </a:rPr>
              <a:t>The system should be able to handle an increasing number of users, products, and purchase records without affecting performance.</a:t>
            </a:r>
          </a:p>
          <a:p>
            <a:pPr algn="l"/>
            <a:r>
              <a:rPr lang="en-IN" sz="2400" b="1" dirty="0">
                <a:solidFill>
                  <a:schemeClr val="bg1"/>
                </a:solidFill>
              </a:rPr>
              <a:t> Security:-</a:t>
            </a:r>
            <a:r>
              <a:rPr lang="en-IN" sz="2400" dirty="0">
                <a:solidFill>
                  <a:schemeClr val="bg1"/>
                </a:solidFill>
              </a:rPr>
              <a:t>User data such as login details and purchase history should be protected using secure authentication and data protection techniques.</a:t>
            </a:r>
          </a:p>
          <a:p>
            <a:pPr algn="l"/>
            <a:r>
              <a:rPr lang="en-IN" sz="2400" b="1" dirty="0">
                <a:solidFill>
                  <a:schemeClr val="bg1"/>
                </a:solidFill>
              </a:rPr>
              <a:t> Reliability:-</a:t>
            </a:r>
            <a:r>
              <a:rPr lang="en-IN" sz="2400" dirty="0">
                <a:solidFill>
                  <a:schemeClr val="bg1"/>
                </a:solidFill>
              </a:rPr>
              <a:t>The system should operate consistently without failures and provide accurate recommendations to users.</a:t>
            </a:r>
          </a:p>
          <a:p>
            <a:pPr algn="l"/>
            <a:endParaRPr lang="en-IN" sz="2400" dirty="0">
              <a:solidFill>
                <a:schemeClr val="bg1"/>
              </a:solidFill>
            </a:endParaRPr>
          </a:p>
        </p:txBody>
      </p:sp>
    </p:spTree>
    <p:extLst>
      <p:ext uri="{BB962C8B-B14F-4D97-AF65-F5344CB8AC3E}">
        <p14:creationId xmlns:p14="http://schemas.microsoft.com/office/powerpoint/2010/main" val="2994999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20413" y="322839"/>
            <a:ext cx="7551173" cy="974116"/>
          </a:xfrm>
        </p:spPr>
        <p:txBody>
          <a:bodyPr>
            <a:normAutofit/>
          </a:bodyPr>
          <a:lstStyle/>
          <a:p>
            <a:r>
              <a:rPr lang="en-US" dirty="0"/>
              <a:t>Literature survey</a:t>
            </a:r>
            <a:endParaRPr lang="en-IN" dirty="0"/>
          </a:p>
        </p:txBody>
      </p:sp>
      <p:graphicFrame>
        <p:nvGraphicFramePr>
          <p:cNvPr id="3" name="Table 3"/>
          <p:cNvGraphicFramePr>
            <a:graphicFrameLocks noGrp="1"/>
          </p:cNvGraphicFramePr>
          <p:nvPr>
            <p:extLst>
              <p:ext uri="{D42A27DB-BD31-4B8C-83A1-F6EECF244321}">
                <p14:modId xmlns:p14="http://schemas.microsoft.com/office/powerpoint/2010/main" val="1926978693"/>
              </p:ext>
            </p:extLst>
          </p:nvPr>
        </p:nvGraphicFramePr>
        <p:xfrm>
          <a:off x="864079" y="1742535"/>
          <a:ext cx="10463841" cy="5136485"/>
        </p:xfrm>
        <a:graphic>
          <a:graphicData uri="http://schemas.openxmlformats.org/drawingml/2006/table">
            <a:tbl>
              <a:tblPr firstRow="1" bandRow="1">
                <a:tableStyleId>{073A0DAA-6AF3-43AB-8588-CEC1D06C72B9}</a:tableStyleId>
              </a:tblPr>
              <a:tblGrid>
                <a:gridCol w="637366">
                  <a:extLst>
                    <a:ext uri="{9D8B030D-6E8A-4147-A177-3AD203B41FA5}">
                      <a16:colId xmlns:a16="http://schemas.microsoft.com/office/drawing/2014/main" val="20000"/>
                    </a:ext>
                  </a:extLst>
                </a:gridCol>
                <a:gridCol w="2693457">
                  <a:extLst>
                    <a:ext uri="{9D8B030D-6E8A-4147-A177-3AD203B41FA5}">
                      <a16:colId xmlns:a16="http://schemas.microsoft.com/office/drawing/2014/main" val="20001"/>
                    </a:ext>
                  </a:extLst>
                </a:gridCol>
                <a:gridCol w="2830961">
                  <a:extLst>
                    <a:ext uri="{9D8B030D-6E8A-4147-A177-3AD203B41FA5}">
                      <a16:colId xmlns:a16="http://schemas.microsoft.com/office/drawing/2014/main" val="20002"/>
                    </a:ext>
                  </a:extLst>
                </a:gridCol>
                <a:gridCol w="1733279">
                  <a:extLst>
                    <a:ext uri="{9D8B030D-6E8A-4147-A177-3AD203B41FA5}">
                      <a16:colId xmlns:a16="http://schemas.microsoft.com/office/drawing/2014/main" val="20003"/>
                    </a:ext>
                  </a:extLst>
                </a:gridCol>
                <a:gridCol w="2568778">
                  <a:extLst>
                    <a:ext uri="{9D8B030D-6E8A-4147-A177-3AD203B41FA5}">
                      <a16:colId xmlns:a16="http://schemas.microsoft.com/office/drawing/2014/main" val="20004"/>
                    </a:ext>
                  </a:extLst>
                </a:gridCol>
              </a:tblGrid>
              <a:tr h="838805">
                <a:tc>
                  <a:txBody>
                    <a:bodyPr/>
                    <a:lstStyle/>
                    <a:p>
                      <a:pPr algn="ctr"/>
                      <a:r>
                        <a:rPr lang="en-IN" sz="1100" dirty="0">
                          <a:latin typeface="Times New Roman" panose="02020603050405020304" pitchFamily="18" charset="0"/>
                          <a:cs typeface="Times New Roman" panose="02020603050405020304" pitchFamily="18" charset="0"/>
                        </a:rPr>
                        <a:t>S. No</a:t>
                      </a:r>
                    </a:p>
                  </a:txBody>
                  <a:tcPr/>
                </a:tc>
                <a:tc>
                  <a:txBody>
                    <a:bodyPr/>
                    <a:lstStyle/>
                    <a:p>
                      <a:pPr algn="ctr"/>
                      <a:r>
                        <a:rPr lang="en-IN" sz="1100" dirty="0">
                          <a:latin typeface="Times New Roman" panose="02020603050405020304" pitchFamily="18" charset="0"/>
                          <a:cs typeface="Times New Roman" panose="02020603050405020304" pitchFamily="18" charset="0"/>
                        </a:rPr>
                        <a:t>Name of the research paper</a:t>
                      </a:r>
                    </a:p>
                  </a:txBody>
                  <a:tcPr/>
                </a:tc>
                <a:tc>
                  <a:txBody>
                    <a:bodyPr/>
                    <a:lstStyle/>
                    <a:p>
                      <a:pPr algn="ctr"/>
                      <a:r>
                        <a:rPr lang="en-IN" sz="1100" dirty="0">
                          <a:latin typeface="Times New Roman" panose="02020603050405020304" pitchFamily="18" charset="0"/>
                          <a:cs typeface="Times New Roman" panose="02020603050405020304" pitchFamily="18" charset="0"/>
                        </a:rPr>
                        <a:t>Author name</a:t>
                      </a:r>
                    </a:p>
                  </a:txBody>
                  <a:tcPr/>
                </a:tc>
                <a:tc>
                  <a:txBody>
                    <a:bodyPr/>
                    <a:lstStyle/>
                    <a:p>
                      <a:pPr algn="ctr"/>
                      <a:r>
                        <a:rPr lang="en-IN" sz="1100" dirty="0">
                          <a:latin typeface="Times New Roman" panose="02020603050405020304" pitchFamily="18" charset="0"/>
                          <a:cs typeface="Times New Roman" panose="02020603050405020304" pitchFamily="18" charset="0"/>
                        </a:rPr>
                        <a:t>Technologies used</a:t>
                      </a:r>
                    </a:p>
                  </a:txBody>
                  <a:tcPr/>
                </a:tc>
                <a:tc>
                  <a:txBody>
                    <a:bodyPr/>
                    <a:lstStyle/>
                    <a:p>
                      <a:pPr algn="ctr"/>
                      <a:r>
                        <a:rPr lang="en-IN" sz="1100" dirty="0">
                          <a:latin typeface="Times New Roman" panose="02020603050405020304" pitchFamily="18" charset="0"/>
                          <a:cs typeface="Times New Roman" panose="02020603050405020304" pitchFamily="18" charset="0"/>
                        </a:rPr>
                        <a:t>Advantages/ Disadvantages</a:t>
                      </a:r>
                    </a:p>
                  </a:txBody>
                  <a:tcPr/>
                </a:tc>
                <a:extLst>
                  <a:ext uri="{0D108BD9-81ED-4DB2-BD59-A6C34878D82A}">
                    <a16:rowId xmlns:a16="http://schemas.microsoft.com/office/drawing/2014/main" val="10000"/>
                  </a:ext>
                </a:extLst>
              </a:tr>
              <a:tr h="1563135">
                <a:tc>
                  <a:txBody>
                    <a:bodyPr/>
                    <a:lstStyle/>
                    <a:p>
                      <a:r>
                        <a:rPr lang="en-IN" sz="1100" dirty="0">
                          <a:latin typeface="Times New Roman" panose="02020603050405020304" pitchFamily="18" charset="0"/>
                          <a:cs typeface="Times New Roman" panose="02020603050405020304" pitchFamily="18" charset="0"/>
                        </a:rPr>
                        <a:t>1</a:t>
                      </a:r>
                    </a:p>
                  </a:txBody>
                  <a:tcPr/>
                </a:tc>
                <a:tc>
                  <a:txBody>
                    <a:bodyPr/>
                    <a:lstStyle/>
                    <a:p>
                      <a:r>
                        <a:rPr lang="en-GB" sz="1100" dirty="0"/>
                        <a:t>A Recommendation System for E-Commerce Products Using Collaborative Filtering Approaches</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b="0" dirty="0" err="1"/>
                        <a:t>Neelamadhab</a:t>
                      </a:r>
                      <a:r>
                        <a:rPr lang="en-IN" sz="1100" b="0" dirty="0"/>
                        <a:t> </a:t>
                      </a:r>
                      <a:r>
                        <a:rPr lang="en-IN" sz="1100" b="0" dirty="0" err="1"/>
                        <a:t>Padhy</a:t>
                      </a:r>
                      <a:endParaRPr lang="en-IN" sz="1100" b="0" dirty="0"/>
                    </a:p>
                    <a:p>
                      <a:r>
                        <a:rPr lang="en-IN" sz="1100" b="0" dirty="0" err="1"/>
                        <a:t>Sridev</a:t>
                      </a:r>
                      <a:r>
                        <a:rPr lang="en-IN" sz="1100" b="0" dirty="0"/>
                        <a:t> Suman</a:t>
                      </a:r>
                    </a:p>
                    <a:p>
                      <a:r>
                        <a:rPr lang="en-IN" sz="1100" b="0" dirty="0"/>
                        <a:t>T. Sanam Priyadarshini</a:t>
                      </a:r>
                    </a:p>
                    <a:p>
                      <a:r>
                        <a:rPr lang="en-IN" sz="1100" b="0" dirty="0"/>
                        <a:t>Subhalaxmi Mallick</a:t>
                      </a:r>
                    </a:p>
                  </a:txBody>
                  <a:tcPr/>
                </a:tc>
                <a:tc>
                  <a:txBody>
                    <a:bodyPr/>
                    <a:lstStyle/>
                    <a:p>
                      <a:r>
                        <a:rPr lang="en-IN" sz="1100" dirty="0"/>
                        <a:t>Collaborative Filtering Algorithms</a:t>
                      </a:r>
                    </a:p>
                    <a:p>
                      <a:r>
                        <a:rPr lang="en-IN" sz="1100" dirty="0"/>
                        <a:t>User–Item Interaction Matrix</a:t>
                      </a:r>
                    </a:p>
                    <a:p>
                      <a:r>
                        <a:rPr lang="en-IN" sz="1100" dirty="0"/>
                        <a:t>Cosine Similarity</a:t>
                      </a:r>
                    </a:p>
                    <a:p>
                      <a:r>
                        <a:rPr lang="en-IN" sz="1100" dirty="0"/>
                        <a:t>Machine Learning Techniques</a:t>
                      </a:r>
                    </a:p>
                    <a:p>
                      <a:r>
                        <a:rPr lang="en-IN" sz="1100" dirty="0"/>
                        <a:t>Python / Data Mining Tools</a:t>
                      </a:r>
                    </a:p>
                    <a:p>
                      <a:r>
                        <a:rPr lang="en-IN" sz="1100" dirty="0"/>
                        <a:t>Dataset preprocessing</a:t>
                      </a:r>
                    </a:p>
                  </a:txBody>
                  <a:tcPr/>
                </a:tc>
                <a:tc>
                  <a:txBody>
                    <a:bodyPr/>
                    <a:lstStyle/>
                    <a:p>
                      <a:r>
                        <a:rPr lang="en-GB" sz="1100" b="1" dirty="0"/>
                        <a:t>Advantage:</a:t>
                      </a:r>
                      <a:r>
                        <a:rPr lang="en-GB" sz="1100" dirty="0"/>
                        <a:t> Provides personalized recommendations using user </a:t>
                      </a:r>
                      <a:r>
                        <a:rPr lang="en-GB" sz="1100" dirty="0" err="1"/>
                        <a:t>behavior</a:t>
                      </a:r>
                      <a:r>
                        <a:rPr lang="en-GB" sz="1100" dirty="0"/>
                        <a:t>; </a:t>
                      </a:r>
                      <a:r>
                        <a:rPr lang="en-GB" sz="1100" b="1" dirty="0"/>
                        <a:t>Disadvantage:</a:t>
                      </a:r>
                      <a:r>
                        <a:rPr lang="en-GB" sz="1100" dirty="0"/>
                        <a:t> Suffers from cold-start and data sparsity problems.</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1317942">
                <a:tc>
                  <a:txBody>
                    <a:bodyPr/>
                    <a:lstStyle/>
                    <a:p>
                      <a:r>
                        <a:rPr lang="en-IN" sz="1100" dirty="0">
                          <a:latin typeface="Times New Roman" panose="02020603050405020304" pitchFamily="18" charset="0"/>
                          <a:cs typeface="Times New Roman" panose="02020603050405020304" pitchFamily="18" charset="0"/>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100" dirty="0"/>
                        <a:t>Predicting Consumer </a:t>
                      </a:r>
                      <a:r>
                        <a:rPr lang="en-GB" sz="1100" dirty="0" err="1"/>
                        <a:t>Behavior</a:t>
                      </a:r>
                      <a:r>
                        <a:rPr lang="en-GB" sz="1100" dirty="0"/>
                        <a:t> in E-Commerce Using Recommendation Systems</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b="0" dirty="0"/>
                        <a:t>Pradeep Kumar Singh</a:t>
                      </a:r>
                    </a:p>
                    <a:p>
                      <a:r>
                        <a:rPr lang="en-IN" sz="1100" b="0" dirty="0"/>
                        <a:t>Ritu Sharma</a:t>
                      </a:r>
                    </a:p>
                    <a:p>
                      <a:r>
                        <a:rPr lang="en-IN" sz="1100" b="0" dirty="0"/>
                        <a:t>Amit Verma</a:t>
                      </a:r>
                    </a:p>
                  </a:txBody>
                  <a:tcPr/>
                </a:tc>
                <a:tc>
                  <a:txBody>
                    <a:bodyPr/>
                    <a:lstStyle/>
                    <a:p>
                      <a:r>
                        <a:rPr lang="en-IN" sz="1100" dirty="0"/>
                        <a:t>Machine Learning Algorithms</a:t>
                      </a:r>
                    </a:p>
                    <a:p>
                      <a:r>
                        <a:rPr lang="en-IN" sz="1100" dirty="0"/>
                        <a:t>Customer </a:t>
                      </a:r>
                      <a:r>
                        <a:rPr lang="en-IN" sz="1100" dirty="0" err="1"/>
                        <a:t>Behavior</a:t>
                      </a:r>
                      <a:r>
                        <a:rPr lang="en-IN" sz="1100" dirty="0"/>
                        <a:t> Analytics</a:t>
                      </a:r>
                    </a:p>
                    <a:p>
                      <a:r>
                        <a:rPr lang="en-IN" sz="1100" dirty="0"/>
                        <a:t>Data Mining Techniques</a:t>
                      </a:r>
                    </a:p>
                    <a:p>
                      <a:r>
                        <a:rPr lang="en-IN" sz="1100" dirty="0"/>
                        <a:t>Predictive </a:t>
                      </a:r>
                      <a:r>
                        <a:rPr lang="en-IN" sz="1100" dirty="0" err="1"/>
                        <a:t>Modeling</a:t>
                      </a:r>
                      <a:endParaRPr lang="en-IN" sz="1100" dirty="0"/>
                    </a:p>
                    <a:p>
                      <a:r>
                        <a:rPr lang="en-IN" sz="1100" dirty="0"/>
                        <a:t>Python / R</a:t>
                      </a:r>
                    </a:p>
                    <a:p>
                      <a:r>
                        <a:rPr lang="en-IN" sz="1100" dirty="0"/>
                        <a:t>Recommendation Engine</a:t>
                      </a:r>
                    </a:p>
                  </a:txBody>
                  <a:tcPr/>
                </a:tc>
                <a:tc>
                  <a:txBody>
                    <a:bodyPr/>
                    <a:lstStyle/>
                    <a:p>
                      <a:r>
                        <a:rPr lang="en-GB" sz="1100" b="1" dirty="0"/>
                        <a:t>Advantage:</a:t>
                      </a:r>
                      <a:r>
                        <a:rPr lang="en-GB" sz="1100" dirty="0"/>
                        <a:t> Helps predict customer purchase patterns; </a:t>
                      </a:r>
                      <a:r>
                        <a:rPr lang="en-GB" sz="1100" b="1" dirty="0"/>
                        <a:t>Disadvantage:</a:t>
                      </a:r>
                      <a:r>
                        <a:rPr lang="en-GB" sz="1100" dirty="0"/>
                        <a:t> Accuracy depends heavily on large and high-quality historical data.</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1072744">
                <a:tc>
                  <a:txBody>
                    <a:bodyPr/>
                    <a:lstStyle/>
                    <a:p>
                      <a:r>
                        <a:rPr lang="en-IN" sz="1100" dirty="0">
                          <a:latin typeface="Times New Roman" panose="02020603050405020304" pitchFamily="18" charset="0"/>
                          <a:cs typeface="Times New Roman" panose="02020603050405020304" pitchFamily="18" charset="0"/>
                        </a:rPr>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100" dirty="0"/>
                        <a:t>A Content-Based Recommender System with Consideration of Repeat Purchase </a:t>
                      </a:r>
                      <a:r>
                        <a:rPr lang="en-GB" sz="1100" dirty="0" err="1"/>
                        <a:t>Behavior</a:t>
                      </a:r>
                      <a:endParaRPr lang="en-IN" sz="1100" dirty="0">
                        <a:latin typeface="Times New Roman" panose="02020603050405020304" pitchFamily="18" charset="0"/>
                        <a:cs typeface="Times New Roman" panose="02020603050405020304" pitchFamily="18" charset="0"/>
                      </a:endParaRPr>
                    </a:p>
                  </a:txBody>
                  <a:tcPr/>
                </a:tc>
                <a:tc>
                  <a:txBody>
                    <a:bodyPr/>
                    <a:lstStyle/>
                    <a:p>
                      <a:r>
                        <a:rPr lang="de-DE" sz="1100" b="0" dirty="0"/>
                        <a:t>Chia‑Hung Lai</a:t>
                      </a:r>
                    </a:p>
                    <a:p>
                      <a:r>
                        <a:rPr lang="de-DE" sz="1100" b="0" dirty="0"/>
                        <a:t>Der‑Jiang Jwo</a:t>
                      </a:r>
                    </a:p>
                  </a:txBody>
                  <a:tcPr/>
                </a:tc>
                <a:tc>
                  <a:txBody>
                    <a:bodyPr/>
                    <a:lstStyle/>
                    <a:p>
                      <a:r>
                        <a:rPr lang="en-GB" sz="1100" dirty="0"/>
                        <a:t>Content-Based Filtering</a:t>
                      </a:r>
                    </a:p>
                    <a:p>
                      <a:r>
                        <a:rPr lang="en-GB" sz="1100" dirty="0"/>
                        <a:t>User Purchase History Analysis</a:t>
                      </a:r>
                    </a:p>
                    <a:p>
                      <a:r>
                        <a:rPr lang="en-GB" sz="1100" dirty="0"/>
                        <a:t>Feature Extraction</a:t>
                      </a:r>
                    </a:p>
                    <a:p>
                      <a:r>
                        <a:rPr lang="en-GB" sz="1100" dirty="0"/>
                        <a:t>Similarity Measurement Algorithms</a:t>
                      </a:r>
                    </a:p>
                  </a:txBody>
                  <a:tcPr/>
                </a:tc>
                <a:tc>
                  <a:txBody>
                    <a:bodyPr/>
                    <a:lstStyle/>
                    <a:p>
                      <a:r>
                        <a:rPr lang="en-GB" sz="1100" b="1" dirty="0"/>
                        <a:t>Advantage:</a:t>
                      </a:r>
                      <a:r>
                        <a:rPr lang="en-GB" sz="1100" dirty="0"/>
                        <a:t> Uses individual purchase history effectively; </a:t>
                      </a:r>
                      <a:r>
                        <a:rPr lang="en-GB" sz="1100" b="1" dirty="0"/>
                        <a:t>Disadvantage:</a:t>
                      </a:r>
                      <a:r>
                        <a:rPr lang="en-GB" sz="1100" dirty="0"/>
                        <a:t> May recommend only similar items and lacks diversity.</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Thank you</a:t>
            </a:r>
            <a:endParaRPr lang="en-IN" dirty="0"/>
          </a:p>
        </p:txBody>
      </p:sp>
      <p:graphicFrame>
        <p:nvGraphicFramePr>
          <p:cNvPr id="3" name="Table 3">
            <a:extLst>
              <a:ext uri="{FF2B5EF4-FFF2-40B4-BE49-F238E27FC236}">
                <a16:creationId xmlns:a16="http://schemas.microsoft.com/office/drawing/2014/main" id="{FDA493FD-6CAC-82F4-A981-CEAC1275D62D}"/>
              </a:ext>
            </a:extLst>
          </p:cNvPr>
          <p:cNvGraphicFramePr>
            <a:graphicFrameLocks noGrp="1"/>
          </p:cNvGraphicFramePr>
          <p:nvPr>
            <p:extLst>
              <p:ext uri="{D42A27DB-BD31-4B8C-83A1-F6EECF244321}">
                <p14:modId xmlns:p14="http://schemas.microsoft.com/office/powerpoint/2010/main" val="1733769676"/>
              </p:ext>
            </p:extLst>
          </p:nvPr>
        </p:nvGraphicFramePr>
        <p:xfrm>
          <a:off x="517585" y="897147"/>
          <a:ext cx="11610462" cy="5365630"/>
        </p:xfrm>
        <a:graphic>
          <a:graphicData uri="http://schemas.openxmlformats.org/drawingml/2006/table">
            <a:tbl>
              <a:tblPr firstRow="1" bandRow="1">
                <a:tableStyleId>{073A0DAA-6AF3-43AB-8588-CEC1D06C72B9}</a:tableStyleId>
              </a:tblPr>
              <a:tblGrid>
                <a:gridCol w="811682">
                  <a:extLst>
                    <a:ext uri="{9D8B030D-6E8A-4147-A177-3AD203B41FA5}">
                      <a16:colId xmlns:a16="http://schemas.microsoft.com/office/drawing/2014/main" val="20000"/>
                    </a:ext>
                  </a:extLst>
                </a:gridCol>
                <a:gridCol w="2798569">
                  <a:extLst>
                    <a:ext uri="{9D8B030D-6E8A-4147-A177-3AD203B41FA5}">
                      <a16:colId xmlns:a16="http://schemas.microsoft.com/office/drawing/2014/main" val="20001"/>
                    </a:ext>
                  </a:extLst>
                </a:gridCol>
                <a:gridCol w="2543897">
                  <a:extLst>
                    <a:ext uri="{9D8B030D-6E8A-4147-A177-3AD203B41FA5}">
                      <a16:colId xmlns:a16="http://schemas.microsoft.com/office/drawing/2014/main" val="20002"/>
                    </a:ext>
                  </a:extLst>
                </a:gridCol>
                <a:gridCol w="2816630">
                  <a:extLst>
                    <a:ext uri="{9D8B030D-6E8A-4147-A177-3AD203B41FA5}">
                      <a16:colId xmlns:a16="http://schemas.microsoft.com/office/drawing/2014/main" val="20003"/>
                    </a:ext>
                  </a:extLst>
                </a:gridCol>
                <a:gridCol w="2639684">
                  <a:extLst>
                    <a:ext uri="{9D8B030D-6E8A-4147-A177-3AD203B41FA5}">
                      <a16:colId xmlns:a16="http://schemas.microsoft.com/office/drawing/2014/main" val="20004"/>
                    </a:ext>
                  </a:extLst>
                </a:gridCol>
              </a:tblGrid>
              <a:tr h="693238">
                <a:tc>
                  <a:txBody>
                    <a:bodyPr/>
                    <a:lstStyle/>
                    <a:p>
                      <a:pPr algn="ctr"/>
                      <a:r>
                        <a:rPr lang="en-IN" sz="1100" dirty="0">
                          <a:latin typeface="Times New Roman" panose="02020603050405020304" pitchFamily="18" charset="0"/>
                          <a:cs typeface="Times New Roman" panose="02020603050405020304" pitchFamily="18" charset="0"/>
                        </a:rPr>
                        <a:t>S. No</a:t>
                      </a:r>
                    </a:p>
                  </a:txBody>
                  <a:tcPr/>
                </a:tc>
                <a:tc>
                  <a:txBody>
                    <a:bodyPr/>
                    <a:lstStyle/>
                    <a:p>
                      <a:pPr algn="ctr"/>
                      <a:r>
                        <a:rPr lang="en-IN" sz="1100" dirty="0">
                          <a:latin typeface="Times New Roman" panose="02020603050405020304" pitchFamily="18" charset="0"/>
                          <a:cs typeface="Times New Roman" panose="02020603050405020304" pitchFamily="18" charset="0"/>
                        </a:rPr>
                        <a:t>Name of the research paper</a:t>
                      </a:r>
                    </a:p>
                  </a:txBody>
                  <a:tcPr/>
                </a:tc>
                <a:tc>
                  <a:txBody>
                    <a:bodyPr/>
                    <a:lstStyle/>
                    <a:p>
                      <a:pPr algn="ctr"/>
                      <a:r>
                        <a:rPr lang="en-IN" sz="1100" dirty="0">
                          <a:latin typeface="Times New Roman" panose="02020603050405020304" pitchFamily="18" charset="0"/>
                          <a:cs typeface="Times New Roman" panose="02020603050405020304" pitchFamily="18" charset="0"/>
                        </a:rPr>
                        <a:t>Author name</a:t>
                      </a:r>
                    </a:p>
                  </a:txBody>
                  <a:tcPr/>
                </a:tc>
                <a:tc>
                  <a:txBody>
                    <a:bodyPr/>
                    <a:lstStyle/>
                    <a:p>
                      <a:pPr algn="ctr"/>
                      <a:r>
                        <a:rPr lang="en-IN" sz="1100" dirty="0">
                          <a:latin typeface="Times New Roman" panose="02020603050405020304" pitchFamily="18" charset="0"/>
                          <a:cs typeface="Times New Roman" panose="02020603050405020304" pitchFamily="18" charset="0"/>
                        </a:rPr>
                        <a:t>Technologies used</a:t>
                      </a:r>
                    </a:p>
                  </a:txBody>
                  <a:tcPr/>
                </a:tc>
                <a:tc>
                  <a:txBody>
                    <a:bodyPr/>
                    <a:lstStyle/>
                    <a:p>
                      <a:pPr algn="ctr"/>
                      <a:r>
                        <a:rPr lang="en-IN" sz="1100" dirty="0">
                          <a:latin typeface="Times New Roman" panose="02020603050405020304" pitchFamily="18" charset="0"/>
                          <a:cs typeface="Times New Roman" panose="02020603050405020304" pitchFamily="18" charset="0"/>
                        </a:rPr>
                        <a:t>Advantages/ Disadvantages</a:t>
                      </a:r>
                    </a:p>
                  </a:txBody>
                  <a:tcPr/>
                </a:tc>
                <a:extLst>
                  <a:ext uri="{0D108BD9-81ED-4DB2-BD59-A6C34878D82A}">
                    <a16:rowId xmlns:a16="http://schemas.microsoft.com/office/drawing/2014/main" val="10000"/>
                  </a:ext>
                </a:extLst>
              </a:tr>
              <a:tr h="1604574">
                <a:tc>
                  <a:txBody>
                    <a:bodyPr/>
                    <a:lstStyle/>
                    <a:p>
                      <a:r>
                        <a:rPr lang="en-US" sz="1100" dirty="0">
                          <a:latin typeface="Times New Roman" panose="02020603050405020304" pitchFamily="18" charset="0"/>
                          <a:cs typeface="Times New Roman" panose="02020603050405020304" pitchFamily="18" charset="0"/>
                        </a:rPr>
                        <a:t>4</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t>Developing Recommender Systems with the Consideration of Product Profitability for Sellers</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b="0" dirty="0"/>
                        <a:t>Gediminas </a:t>
                      </a:r>
                      <a:r>
                        <a:rPr lang="en-IN" sz="1100" b="0" dirty="0" err="1"/>
                        <a:t>Adomavicius</a:t>
                      </a:r>
                      <a:endParaRPr lang="en-IN" sz="1100" b="0" dirty="0"/>
                    </a:p>
                    <a:p>
                      <a:r>
                        <a:rPr lang="en-IN" sz="1100" b="0" dirty="0"/>
                        <a:t>Alexander </a:t>
                      </a:r>
                      <a:r>
                        <a:rPr lang="en-IN" sz="1100" b="0" dirty="0" err="1"/>
                        <a:t>Tuzhilin</a:t>
                      </a:r>
                      <a:endParaRPr lang="en-IN" sz="1100" b="0" dirty="0"/>
                    </a:p>
                    <a:p>
                      <a:pPr marL="0" marR="0" lvl="0" indent="0" algn="l" defTabSz="914400" rtl="0" eaLnBrk="1" fontAlgn="auto" latinLnBrk="0" hangingPunct="1">
                        <a:lnSpc>
                          <a:spcPct val="100000"/>
                        </a:lnSpc>
                        <a:spcBef>
                          <a:spcPts val="0"/>
                        </a:spcBef>
                        <a:spcAft>
                          <a:spcPts val="0"/>
                        </a:spcAft>
                        <a:buClrTx/>
                        <a:buSzTx/>
                        <a:buFontTx/>
                        <a:buNone/>
                        <a:defRPr/>
                      </a:pP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t>Recommendation Algorithms</a:t>
                      </a:r>
                    </a:p>
                    <a:p>
                      <a:r>
                        <a:rPr lang="en-IN" sz="1100" dirty="0"/>
                        <a:t>Profit-Aware Recommendation Models</a:t>
                      </a:r>
                    </a:p>
                    <a:p>
                      <a:r>
                        <a:rPr lang="en-IN" sz="1100" dirty="0"/>
                        <a:t>Data Mining</a:t>
                      </a:r>
                    </a:p>
                    <a:p>
                      <a:r>
                        <a:rPr lang="en-IN" sz="1100" dirty="0"/>
                        <a:t>Utility-Based Recommendation</a:t>
                      </a:r>
                    </a:p>
                    <a:p>
                      <a:r>
                        <a:rPr lang="en-IN" sz="1100" dirty="0"/>
                        <a:t>Decision Support Systems</a:t>
                      </a:r>
                    </a:p>
                  </a:txBody>
                  <a:tcPr/>
                </a:tc>
                <a:tc>
                  <a:txBody>
                    <a:bodyPr/>
                    <a:lstStyle/>
                    <a:p>
                      <a:r>
                        <a:rPr lang="en-GB" sz="1100" b="1" dirty="0"/>
                        <a:t>Advantage:</a:t>
                      </a:r>
                      <a:r>
                        <a:rPr lang="en-GB" sz="1100" dirty="0"/>
                        <a:t> Improves seller profit along with recommendations; </a:t>
                      </a:r>
                      <a:r>
                        <a:rPr lang="en-GB" sz="1100" b="1" dirty="0"/>
                        <a:t>Disadvantage:</a:t>
                      </a:r>
                      <a:r>
                        <a:rPr lang="en-GB" sz="1100" dirty="0"/>
                        <a:t> May prioritize profit over customer satisfaction.</a:t>
                      </a:r>
                      <a:endParaRPr lang="en-US"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94725831"/>
                  </a:ext>
                </a:extLst>
              </a:tr>
              <a:tr h="1299562">
                <a:tc>
                  <a:txBody>
                    <a:bodyPr/>
                    <a:lstStyle/>
                    <a:p>
                      <a:r>
                        <a:rPr lang="en-IN" sz="1100" dirty="0">
                          <a:latin typeface="Times New Roman" panose="02020603050405020304" pitchFamily="18" charset="0"/>
                          <a:cs typeface="Times New Roman" panose="02020603050405020304" pitchFamily="18" charset="0"/>
                        </a:rPr>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t>Supercharging Recommender Systems Using Taxonomies for Learning User Purchase </a:t>
                      </a:r>
                      <a:r>
                        <a:rPr lang="en-GB" sz="1100" dirty="0" err="1"/>
                        <a:t>Behavior</a:t>
                      </a:r>
                      <a:endParaRPr lang="en-IN" sz="1100" b="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100" dirty="0"/>
                        <a:t>.</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b="0" dirty="0"/>
                        <a:t>Alexandros </a:t>
                      </a:r>
                      <a:r>
                        <a:rPr lang="en-IN" sz="1100" b="0" dirty="0" err="1"/>
                        <a:t>Karatzoglou</a:t>
                      </a:r>
                      <a:endParaRPr lang="en-IN" sz="1100" b="0" dirty="0"/>
                    </a:p>
                    <a:p>
                      <a:r>
                        <a:rPr lang="en-IN" sz="1100" b="0" dirty="0"/>
                        <a:t>Linas </a:t>
                      </a:r>
                      <a:r>
                        <a:rPr lang="en-IN" sz="1100" b="0" dirty="0" err="1"/>
                        <a:t>Baltrunas</a:t>
                      </a:r>
                      <a:endParaRPr lang="en-IN" sz="1100" b="0" dirty="0"/>
                    </a:p>
                    <a:p>
                      <a:r>
                        <a:rPr lang="en-IN" sz="1100" b="0" dirty="0"/>
                        <a:t>Yehuda Koren</a:t>
                      </a:r>
                    </a:p>
                  </a:txBody>
                  <a:tcPr/>
                </a:tc>
                <a:tc>
                  <a:txBody>
                    <a:bodyPr/>
                    <a:lstStyle/>
                    <a:p>
                      <a:r>
                        <a:rPr lang="en-GB" sz="1100" dirty="0"/>
                        <a:t>Taxonomy-Based Recommendation</a:t>
                      </a:r>
                    </a:p>
                    <a:p>
                      <a:r>
                        <a:rPr lang="en-GB" sz="1100" dirty="0"/>
                        <a:t>Matrix Factorization</a:t>
                      </a:r>
                    </a:p>
                    <a:p>
                      <a:r>
                        <a:rPr lang="en-GB" sz="1100" dirty="0"/>
                        <a:t>Latent Factor Models</a:t>
                      </a:r>
                    </a:p>
                    <a:p>
                      <a:r>
                        <a:rPr lang="en-GB" sz="1100" dirty="0"/>
                        <a:t>Machine Learning Techniques</a:t>
                      </a:r>
                    </a:p>
                    <a:p>
                      <a:r>
                        <a:rPr lang="en-GB" sz="1100" dirty="0"/>
                        <a:t>Data Mining Algorithms</a:t>
                      </a:r>
                    </a:p>
                  </a:txBody>
                  <a:tcPr/>
                </a:tc>
                <a:tc>
                  <a:txBody>
                    <a:bodyPr/>
                    <a:lstStyle/>
                    <a:p>
                      <a:r>
                        <a:rPr lang="en-GB" sz="1100" b="1" dirty="0"/>
                        <a:t>Advantage:</a:t>
                      </a:r>
                      <a:r>
                        <a:rPr lang="en-GB" sz="1100" dirty="0"/>
                        <a:t> Improves recommendation accuracy using product category hierarchies; </a:t>
                      </a:r>
                      <a:r>
                        <a:rPr lang="en-GB" sz="1100" b="1" dirty="0"/>
                        <a:t>Disadvantage:</a:t>
                      </a:r>
                      <a:r>
                        <a:rPr lang="en-GB" sz="1100" dirty="0"/>
                        <a:t> Requires well-structured taxonomy data and complex implementation.</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8702398"/>
                  </a:ext>
                </a:extLst>
              </a:tr>
              <a:tr h="1768256">
                <a:tc>
                  <a:txBody>
                    <a:bodyPr/>
                    <a:lstStyle/>
                    <a:p>
                      <a:r>
                        <a:rPr lang="en-IN" sz="1100" dirty="0">
                          <a:latin typeface="Times New Roman" panose="02020603050405020304" pitchFamily="18" charset="0"/>
                          <a:cs typeface="Times New Roman" panose="02020603050405020304" pitchFamily="18" charset="0"/>
                        </a:rPr>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100" dirty="0"/>
                        <a:t>Distributed Vector Representation of Shopping Items, the Customer and Shopping Cart to Build a Three-Fold Recommendation System</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b="0" dirty="0"/>
                        <a:t>Omid Kardan</a:t>
                      </a:r>
                    </a:p>
                    <a:p>
                      <a:r>
                        <a:rPr lang="en-IN" sz="1100" b="0" dirty="0"/>
                        <a:t>Maryam Ebrahimi</a:t>
                      </a:r>
                    </a:p>
                    <a:p>
                      <a:r>
                        <a:rPr lang="en-IN" sz="1100" b="0" dirty="0"/>
                        <a:t>Hadi </a:t>
                      </a:r>
                      <a:r>
                        <a:rPr lang="en-IN" sz="1100" b="0" dirty="0" err="1"/>
                        <a:t>Fakhraei</a:t>
                      </a:r>
                      <a:endParaRPr lang="en-IN" sz="1100" b="0" dirty="0"/>
                    </a:p>
                    <a:p>
                      <a:endParaRPr lang="en-IN" sz="1100" dirty="0">
                        <a:latin typeface="Times New Roman" panose="02020603050405020304" pitchFamily="18" charset="0"/>
                        <a:cs typeface="Times New Roman" panose="02020603050405020304" pitchFamily="18" charset="0"/>
                      </a:endParaRPr>
                    </a:p>
                  </a:txBody>
                  <a:tcPr/>
                </a:tc>
                <a:tc>
                  <a:txBody>
                    <a:bodyPr/>
                    <a:lstStyle/>
                    <a:p>
                      <a:r>
                        <a:rPr lang="en-GB" sz="1100" dirty="0"/>
                        <a:t>Deep Learning Techniques</a:t>
                      </a:r>
                    </a:p>
                    <a:p>
                      <a:r>
                        <a:rPr lang="en-GB" sz="1100" dirty="0"/>
                        <a:t>Vector Embedding Models</a:t>
                      </a:r>
                    </a:p>
                    <a:p>
                      <a:r>
                        <a:rPr lang="en-GB" sz="1100" dirty="0"/>
                        <a:t>Neural Networks</a:t>
                      </a:r>
                    </a:p>
                    <a:p>
                      <a:r>
                        <a:rPr lang="en-GB" sz="1100" dirty="0"/>
                        <a:t>Representation Learning</a:t>
                      </a:r>
                    </a:p>
                    <a:p>
                      <a:r>
                        <a:rPr lang="en-GB" sz="1100" dirty="0"/>
                        <a:t>Purchase Pattern Mining</a:t>
                      </a:r>
                    </a:p>
                  </a:txBody>
                  <a:tcPr/>
                </a:tc>
                <a:tc>
                  <a:txBody>
                    <a:bodyPr/>
                    <a:lstStyle/>
                    <a:p>
                      <a:r>
                        <a:rPr lang="en-GB" sz="1100" b="1"/>
                        <a:t>Advantage:</a:t>
                      </a:r>
                      <a:r>
                        <a:rPr lang="en-GB" sz="1100"/>
                        <a:t> Captures complex relationships using deep learning embeddings; </a:t>
                      </a:r>
                      <a:r>
                        <a:rPr lang="en-GB" sz="1100" b="1"/>
                        <a:t>Disadvantage:</a:t>
                      </a:r>
                      <a:r>
                        <a:rPr lang="en-GB" sz="1100"/>
                        <a:t> Requires large datasets and high computational resources.</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68895938"/>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40043" y="493849"/>
            <a:ext cx="9192126" cy="912163"/>
          </a:xfrm>
        </p:spPr>
        <p:txBody>
          <a:bodyPr>
            <a:normAutofit/>
          </a:bodyPr>
          <a:lstStyle/>
          <a:p>
            <a:r>
              <a:rPr lang="en-US" dirty="0"/>
              <a:t>System Architecture</a:t>
            </a:r>
            <a:endParaRPr lang="en-IN" dirty="0"/>
          </a:p>
        </p:txBody>
      </p:sp>
      <p:pic>
        <p:nvPicPr>
          <p:cNvPr id="6" name="Picture 5" descr="A diagram of a system architecture&#10;&#10;AI-generated content may be incorrect.">
            <a:extLst>
              <a:ext uri="{FF2B5EF4-FFF2-40B4-BE49-F238E27FC236}">
                <a16:creationId xmlns:a16="http://schemas.microsoft.com/office/drawing/2014/main" id="{280B7350-13E3-8F15-FE01-D7820C2138CB}"/>
              </a:ext>
            </a:extLst>
          </p:cNvPr>
          <p:cNvPicPr>
            <a:picLocks noChangeAspect="1"/>
          </p:cNvPicPr>
          <p:nvPr/>
        </p:nvPicPr>
        <p:blipFill>
          <a:blip r:embed="rId2"/>
          <a:stretch>
            <a:fillRect/>
          </a:stretch>
        </p:blipFill>
        <p:spPr>
          <a:xfrm>
            <a:off x="2219631" y="1676400"/>
            <a:ext cx="7772400" cy="5181600"/>
          </a:xfrm>
          <a:prstGeom prst="rect">
            <a:avLst/>
          </a:prstGeom>
        </p:spPr>
      </p:pic>
    </p:spTree>
    <p:extLst>
      <p:ext uri="{BB962C8B-B14F-4D97-AF65-F5344CB8AC3E}">
        <p14:creationId xmlns:p14="http://schemas.microsoft.com/office/powerpoint/2010/main" val="16677330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B12A1-D91A-9567-F858-18F8FD227B5A}"/>
              </a:ext>
            </a:extLst>
          </p:cNvPr>
          <p:cNvSpPr>
            <a:spLocks noGrp="1"/>
          </p:cNvSpPr>
          <p:nvPr>
            <p:ph type="ctrTitle"/>
          </p:nvPr>
        </p:nvSpPr>
        <p:spPr>
          <a:xfrm>
            <a:off x="1600200" y="380144"/>
            <a:ext cx="8991600" cy="999923"/>
          </a:xfrm>
        </p:spPr>
        <p:txBody>
          <a:bodyPr/>
          <a:lstStyle/>
          <a:p>
            <a:r>
              <a:rPr lang="en-IN" dirty="0" err="1"/>
              <a:t>Uml</a:t>
            </a:r>
            <a:r>
              <a:rPr lang="en-IN" dirty="0"/>
              <a:t> diagram</a:t>
            </a:r>
          </a:p>
        </p:txBody>
      </p:sp>
      <p:pic>
        <p:nvPicPr>
          <p:cNvPr id="6" name="Picture 5" descr="A diagram of a uml diagram&#10;&#10;AI-generated content may be incorrect.">
            <a:extLst>
              <a:ext uri="{FF2B5EF4-FFF2-40B4-BE49-F238E27FC236}">
                <a16:creationId xmlns:a16="http://schemas.microsoft.com/office/drawing/2014/main" id="{15B15822-1949-DF06-0AC5-3E60D302E12A}"/>
              </a:ext>
            </a:extLst>
          </p:cNvPr>
          <p:cNvPicPr>
            <a:picLocks noChangeAspect="1"/>
          </p:cNvPicPr>
          <p:nvPr/>
        </p:nvPicPr>
        <p:blipFill>
          <a:blip r:embed="rId2"/>
          <a:stretch>
            <a:fillRect/>
          </a:stretch>
        </p:blipFill>
        <p:spPr>
          <a:xfrm>
            <a:off x="2342148" y="1541379"/>
            <a:ext cx="7772400" cy="5181600"/>
          </a:xfrm>
          <a:prstGeom prst="rect">
            <a:avLst/>
          </a:prstGeom>
        </p:spPr>
      </p:pic>
    </p:spTree>
    <p:extLst>
      <p:ext uri="{BB962C8B-B14F-4D97-AF65-F5344CB8AC3E}">
        <p14:creationId xmlns:p14="http://schemas.microsoft.com/office/powerpoint/2010/main" val="1445065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254B6CD-A359-82B0-1212-E2939FE564AA}"/>
              </a:ext>
            </a:extLst>
          </p:cNvPr>
          <p:cNvSpPr>
            <a:spLocks noGrp="1"/>
          </p:cNvSpPr>
          <p:nvPr>
            <p:ph type="ctrTitle"/>
          </p:nvPr>
        </p:nvSpPr>
        <p:spPr>
          <a:xfrm>
            <a:off x="1600200" y="347242"/>
            <a:ext cx="8991600" cy="1261639"/>
          </a:xfrm>
        </p:spPr>
        <p:txBody>
          <a:bodyPr/>
          <a:lstStyle/>
          <a:p>
            <a:r>
              <a:rPr lang="en-US" dirty="0"/>
              <a:t>Activity diagram</a:t>
            </a:r>
          </a:p>
        </p:txBody>
      </p:sp>
      <p:pic>
        <p:nvPicPr>
          <p:cNvPr id="9" name="Picture 8" descr="A diagram of a product&#10;&#10;AI-generated content may be incorrect.">
            <a:extLst>
              <a:ext uri="{FF2B5EF4-FFF2-40B4-BE49-F238E27FC236}">
                <a16:creationId xmlns:a16="http://schemas.microsoft.com/office/drawing/2014/main" id="{2DEA87EE-1BF3-235A-5E52-36F0ACCFB608}"/>
              </a:ext>
            </a:extLst>
          </p:cNvPr>
          <p:cNvPicPr>
            <a:picLocks noChangeAspect="1"/>
          </p:cNvPicPr>
          <p:nvPr/>
        </p:nvPicPr>
        <p:blipFill>
          <a:blip r:embed="rId2"/>
          <a:stretch>
            <a:fillRect/>
          </a:stretch>
        </p:blipFill>
        <p:spPr>
          <a:xfrm>
            <a:off x="2209800" y="1676400"/>
            <a:ext cx="7772400" cy="5181600"/>
          </a:xfrm>
          <a:prstGeom prst="rect">
            <a:avLst/>
          </a:prstGeom>
        </p:spPr>
      </p:pic>
    </p:spTree>
    <p:extLst>
      <p:ext uri="{BB962C8B-B14F-4D97-AF65-F5344CB8AC3E}">
        <p14:creationId xmlns:p14="http://schemas.microsoft.com/office/powerpoint/2010/main" val="2547450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AE257-8A76-FAE5-BE9D-AF1C24333988}"/>
              </a:ext>
            </a:extLst>
          </p:cNvPr>
          <p:cNvSpPr>
            <a:spLocks noGrp="1"/>
          </p:cNvSpPr>
          <p:nvPr>
            <p:ph type="ctrTitle"/>
          </p:nvPr>
        </p:nvSpPr>
        <p:spPr>
          <a:xfrm>
            <a:off x="1600200" y="289261"/>
            <a:ext cx="8991600" cy="1239894"/>
          </a:xfrm>
        </p:spPr>
        <p:txBody>
          <a:bodyPr/>
          <a:lstStyle/>
          <a:p>
            <a:r>
              <a:rPr lang="en-IN" dirty="0"/>
              <a:t>Module design</a:t>
            </a:r>
          </a:p>
        </p:txBody>
      </p:sp>
      <p:sp>
        <p:nvSpPr>
          <p:cNvPr id="3" name="Subtitle 2">
            <a:extLst>
              <a:ext uri="{FF2B5EF4-FFF2-40B4-BE49-F238E27FC236}">
                <a16:creationId xmlns:a16="http://schemas.microsoft.com/office/drawing/2014/main" id="{24F7CD92-4B9D-13AF-4079-A1B121EEB3BF}"/>
              </a:ext>
            </a:extLst>
          </p:cNvPr>
          <p:cNvSpPr>
            <a:spLocks noGrp="1"/>
          </p:cNvSpPr>
          <p:nvPr>
            <p:ph type="subTitle" idx="1"/>
          </p:nvPr>
        </p:nvSpPr>
        <p:spPr>
          <a:xfrm>
            <a:off x="2695194" y="4294671"/>
            <a:ext cx="6801612" cy="1239894"/>
          </a:xfrm>
        </p:spPr>
        <p:txBody>
          <a:bodyPr>
            <a:normAutofit/>
          </a:bodyPr>
          <a:lstStyle/>
          <a:p>
            <a:endParaRPr lang="en-IN" dirty="0"/>
          </a:p>
        </p:txBody>
      </p:sp>
      <p:pic>
        <p:nvPicPr>
          <p:cNvPr id="8" name="Picture 7" descr="A diagram of a software development&#10;&#10;AI-generated content may be incorrect.">
            <a:extLst>
              <a:ext uri="{FF2B5EF4-FFF2-40B4-BE49-F238E27FC236}">
                <a16:creationId xmlns:a16="http://schemas.microsoft.com/office/drawing/2014/main" id="{FCF8250A-1C3B-BC52-E504-415A53E545CF}"/>
              </a:ext>
            </a:extLst>
          </p:cNvPr>
          <p:cNvPicPr>
            <a:picLocks noChangeAspect="1"/>
          </p:cNvPicPr>
          <p:nvPr/>
        </p:nvPicPr>
        <p:blipFill>
          <a:blip r:embed="rId2"/>
          <a:stretch>
            <a:fillRect/>
          </a:stretch>
        </p:blipFill>
        <p:spPr>
          <a:xfrm>
            <a:off x="2209800" y="1703871"/>
            <a:ext cx="7772400" cy="5181600"/>
          </a:xfrm>
          <a:prstGeom prst="rect">
            <a:avLst/>
          </a:prstGeom>
        </p:spPr>
      </p:pic>
    </p:spTree>
    <p:extLst>
      <p:ext uri="{BB962C8B-B14F-4D97-AF65-F5344CB8AC3E}">
        <p14:creationId xmlns:p14="http://schemas.microsoft.com/office/powerpoint/2010/main" val="2185265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38D9977-3599-9D98-5444-768A6924E2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8997571"/>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1027</TotalTime>
  <Words>1240</Words>
  <Application>Microsoft Office PowerPoint</Application>
  <PresentationFormat>Widescreen</PresentationFormat>
  <Paragraphs>187</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Gill Sans MT</vt:lpstr>
      <vt:lpstr>Times New Roman</vt:lpstr>
      <vt:lpstr>Wingdings</vt:lpstr>
      <vt:lpstr>Parcel</vt:lpstr>
      <vt:lpstr>Smart Customer Purchase Analytics &amp; RECOMMENDATION SYSTEM</vt:lpstr>
      <vt:lpstr>Table of contents</vt:lpstr>
      <vt:lpstr>Review – 2 comments addressed</vt:lpstr>
      <vt:lpstr>ABSTRACT</vt:lpstr>
      <vt:lpstr>Introduction</vt:lpstr>
      <vt:lpstr>Existing system</vt:lpstr>
      <vt:lpstr>Proposed system</vt:lpstr>
      <vt:lpstr>Objectives</vt:lpstr>
      <vt:lpstr>Software requirements</vt:lpstr>
      <vt:lpstr>Hardware requirements</vt:lpstr>
      <vt:lpstr>FUNCTIONAL  requirements</vt:lpstr>
      <vt:lpstr>Non - functional requirements</vt:lpstr>
      <vt:lpstr>Literature survey</vt:lpstr>
      <vt:lpstr>Thank you</vt:lpstr>
      <vt:lpstr>System Architecture</vt:lpstr>
      <vt:lpstr>Uml diagram</vt:lpstr>
      <vt:lpstr>Activity diagram</vt:lpstr>
      <vt:lpstr>Module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Preserving performance of ml models using MLOps</dc:title>
  <dc:creator>Varshika Dasari</dc:creator>
  <cp:lastModifiedBy>Manjith Reddy</cp:lastModifiedBy>
  <cp:revision>19</cp:revision>
  <dcterms:created xsi:type="dcterms:W3CDTF">2022-09-15T19:17:00Z</dcterms:created>
  <dcterms:modified xsi:type="dcterms:W3CDTF">2026-03-11T03:36:46Z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3936C35BB73A4955AF09C77BF7191492</vt:lpwstr>
  </property>
  <property fmtid="{D5CDD505-2E9C-101B-9397-08002B2CF9AE}" pid="3" name="KSOProductBuildVer">
    <vt:lpwstr>1033-11.2.0.11306</vt:lpwstr>
  </property>
</Properties>
</file>